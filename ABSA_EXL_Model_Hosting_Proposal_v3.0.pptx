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91440" cy="402336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1097280" cy="411480"/>
          </a:xfrm>
          <a:prstGeom prst="roundRect">
            <a:avLst>
              <a:gd name="adj" fmla="val 3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ABSA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685800"/>
            <a:ext cx="1097280" cy="411480"/>
          </a:xfrm>
          <a:prstGeom prst="roundRect">
            <a:avLst>
              <a:gd name="adj" fmla="val 3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85800"/>
            <a:ext cx="10972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85800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STRATEGIC PARTNERSHIP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Model Hosting &amp;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Delivery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1645920" cy="54864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An enterprise ML platform for ABSA Group — secure, governed, audit-ready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FC6CF"/>
                </a:solidFill>
                <a:latin typeface="Calibri"/>
              </a:rPr>
              <a:t>Proposed reference architecture, operating model and commercial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3108960" cy="10058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E5A24"/>
                </a:solidFill>
                <a:latin typeface="Calibri"/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5-month program · 10-FTE EXL pod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Raw data stays in ABSA · 10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029200"/>
            <a:ext cx="3108960" cy="10058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E5A24"/>
                </a:solidFill>
                <a:latin typeface="Calibri"/>
              </a:rPr>
              <a:t>INVESTMENT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30352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USD 802k build (service-priced)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$80.2k/model · $72k/yr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029200"/>
            <a:ext cx="3108960" cy="10058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E5A24"/>
                </a:solidFill>
                <a:latin typeface="Calibr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30352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Audit-ready platform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&lt;7-day model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FC6CF"/>
                </a:solidFill>
                <a:latin typeface="Calibri"/>
              </a:rPr>
              <a:t>Prepared for ABSA Group Risk &amp; Analytics  ·  Version 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What's in this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A business-first read with technical depth where you need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278892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2788920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9164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2240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48840"/>
            <a:ext cx="2788920" cy="27432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THE 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2316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Business imperative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81528"/>
            <a:ext cx="73152" cy="73152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538728"/>
            <a:ext cx="73152" cy="73152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Business Imperative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995928"/>
            <a:ext cx="73152" cy="73152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Solution at a Glance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453128"/>
            <a:ext cx="73152" cy="73152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Business Outcomes &amp; KPIs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1508760"/>
            <a:ext cx="278892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82112" y="1508760"/>
            <a:ext cx="2788920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2112" y="169164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5A24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2148840"/>
            <a:ext cx="2788920" cy="27432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THE 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42316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Platform &amp; process</a:t>
            </a:r>
          </a:p>
        </p:txBody>
      </p:sp>
      <p:sp>
        <p:nvSpPr>
          <p:cNvPr id="28" name="Oval 27"/>
          <p:cNvSpPr/>
          <p:nvPr/>
        </p:nvSpPr>
        <p:spPr>
          <a:xfrm>
            <a:off x="3410712" y="3081528"/>
            <a:ext cx="73152" cy="7315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29260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Two-Track Operating Model</a:t>
            </a:r>
          </a:p>
        </p:txBody>
      </p:sp>
      <p:sp>
        <p:nvSpPr>
          <p:cNvPr id="30" name="Oval 29"/>
          <p:cNvSpPr/>
          <p:nvPr/>
        </p:nvSpPr>
        <p:spPr>
          <a:xfrm>
            <a:off x="3410712" y="3538728"/>
            <a:ext cx="73152" cy="7315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3832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Model Onboarding (Track A)</a:t>
            </a:r>
          </a:p>
        </p:txBody>
      </p:sp>
      <p:sp>
        <p:nvSpPr>
          <p:cNvPr id="32" name="Oval 31"/>
          <p:cNvSpPr/>
          <p:nvPr/>
        </p:nvSpPr>
        <p:spPr>
          <a:xfrm>
            <a:off x="3410712" y="3995928"/>
            <a:ext cx="73152" cy="7315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38404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Scheduled Scoring (Track B)</a:t>
            </a:r>
          </a:p>
        </p:txBody>
      </p:sp>
      <p:sp>
        <p:nvSpPr>
          <p:cNvPr id="34" name="Oval 33"/>
          <p:cNvSpPr/>
          <p:nvPr/>
        </p:nvSpPr>
        <p:spPr>
          <a:xfrm>
            <a:off x="3410712" y="4453128"/>
            <a:ext cx="73152" cy="7315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2" y="42976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Technical Architecture</a:t>
            </a:r>
          </a:p>
        </p:txBody>
      </p:sp>
      <p:sp>
        <p:nvSpPr>
          <p:cNvPr id="36" name="Oval 35"/>
          <p:cNvSpPr/>
          <p:nvPr/>
        </p:nvSpPr>
        <p:spPr>
          <a:xfrm>
            <a:off x="3410712" y="4910328"/>
            <a:ext cx="73152" cy="7315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3592" y="47548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Security, Privacy, Regulation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44183" y="1508760"/>
            <a:ext cx="278892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44183" y="1508760"/>
            <a:ext cx="278892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44183" y="169164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A896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4183" y="2148840"/>
            <a:ext cx="2788920" cy="27432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THE WHO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4183" y="242316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Delivery &amp; ways of working</a:t>
            </a:r>
          </a:p>
        </p:txBody>
      </p:sp>
      <p:sp>
        <p:nvSpPr>
          <p:cNvPr id="43" name="Oval 42"/>
          <p:cNvSpPr/>
          <p:nvPr/>
        </p:nvSpPr>
        <p:spPr>
          <a:xfrm>
            <a:off x="6272783" y="3081528"/>
            <a:ext cx="73152" cy="7315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3" y="29260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Operating Model</a:t>
            </a:r>
          </a:p>
        </p:txBody>
      </p:sp>
      <p:sp>
        <p:nvSpPr>
          <p:cNvPr id="45" name="Oval 44"/>
          <p:cNvSpPr/>
          <p:nvPr/>
        </p:nvSpPr>
        <p:spPr>
          <a:xfrm>
            <a:off x="6272783" y="3538728"/>
            <a:ext cx="73152" cy="7315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5663" y="33832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Service Catalog</a:t>
            </a:r>
          </a:p>
        </p:txBody>
      </p:sp>
      <p:sp>
        <p:nvSpPr>
          <p:cNvPr id="47" name="Oval 46"/>
          <p:cNvSpPr/>
          <p:nvPr/>
        </p:nvSpPr>
        <p:spPr>
          <a:xfrm>
            <a:off x="6272783" y="3995928"/>
            <a:ext cx="73152" cy="7315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3" y="38404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Platform Foundation Modules</a:t>
            </a:r>
          </a:p>
        </p:txBody>
      </p:sp>
      <p:sp>
        <p:nvSpPr>
          <p:cNvPr id="49" name="Oval 48"/>
          <p:cNvSpPr/>
          <p:nvPr/>
        </p:nvSpPr>
        <p:spPr>
          <a:xfrm>
            <a:off x="6272783" y="4453128"/>
            <a:ext cx="73152" cy="7315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3" y="42976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Delivery Roadmap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06256" y="1508760"/>
            <a:ext cx="278892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06256" y="1508760"/>
            <a:ext cx="278892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06256" y="169164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06256" y="2148840"/>
            <a:ext cx="2788920" cy="27432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THE ASK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6256" y="2423160"/>
            <a:ext cx="2788920" cy="411480"/>
          </a:xfrm>
          <a:prstGeom prst="rect">
            <a:avLst/>
          </a:prstGeom>
          <a:noFill/>
        </p:spPr>
        <p:txBody>
          <a:bodyPr wrap="square" lIns="228600" rIns="228600" tIns="137160" bIns="13716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Commercial &amp; next steps</a:t>
            </a:r>
          </a:p>
        </p:txBody>
      </p:sp>
      <p:sp>
        <p:nvSpPr>
          <p:cNvPr id="56" name="Oval 55"/>
          <p:cNvSpPr/>
          <p:nvPr/>
        </p:nvSpPr>
        <p:spPr>
          <a:xfrm>
            <a:off x="9134856" y="3081528"/>
            <a:ext cx="73152" cy="7315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17736" y="29260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Investment Summary</a:t>
            </a:r>
          </a:p>
        </p:txBody>
      </p:sp>
      <p:sp>
        <p:nvSpPr>
          <p:cNvPr id="58" name="Oval 57"/>
          <p:cNvSpPr/>
          <p:nvPr/>
        </p:nvSpPr>
        <p:spPr>
          <a:xfrm>
            <a:off x="9134856" y="3538728"/>
            <a:ext cx="73152" cy="7315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17736" y="33832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Per-Model Economics</a:t>
            </a:r>
          </a:p>
        </p:txBody>
      </p:sp>
      <p:sp>
        <p:nvSpPr>
          <p:cNvPr id="60" name="Oval 59"/>
          <p:cNvSpPr/>
          <p:nvPr/>
        </p:nvSpPr>
        <p:spPr>
          <a:xfrm>
            <a:off x="9134856" y="3995928"/>
            <a:ext cx="73152" cy="7315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17736" y="38404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Risks &amp; Mitigations</a:t>
            </a:r>
          </a:p>
        </p:txBody>
      </p:sp>
      <p:sp>
        <p:nvSpPr>
          <p:cNvPr id="62" name="Oval 61"/>
          <p:cNvSpPr/>
          <p:nvPr/>
        </p:nvSpPr>
        <p:spPr>
          <a:xfrm>
            <a:off x="9134856" y="4453128"/>
            <a:ext cx="73152" cy="7315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17736" y="4297680"/>
            <a:ext cx="2331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656"/>
                </a:solidFill>
                <a:latin typeface="Calibri"/>
              </a:rPr>
              <a:t>Why EXL · Next Steps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6217920"/>
            <a:ext cx="11521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482"/>
                </a:solidFill>
                <a:latin typeface="Calibri"/>
              </a:rPr>
              <a:t>You can read sections 1 &amp; 4 alone for a business view; sections 2 &amp; 3 carry the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1 · THE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What we propose, what it costs, what ABSA gets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91440" cy="123444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A2240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482"/>
                </a:solidFill>
                <a:latin typeface="Calibri"/>
              </a:rPr>
              <a:t>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463040"/>
            <a:ext cx="16459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build + first production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41732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417320"/>
            <a:ext cx="91440" cy="123444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463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EE5A24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01168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482"/>
                </a:solidFill>
                <a:latin typeface="Calibri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463040"/>
            <a:ext cx="16459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hosted, governed, continuously scored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141732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8744" y="1417320"/>
            <a:ext cx="91440" cy="1234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463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0A896"/>
                </a:solidFill>
                <a:latin typeface="Calibri"/>
              </a:rPr>
              <a:t>$802k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01168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482"/>
                </a:solidFill>
                <a:latin typeface="Calibri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1864" y="1463040"/>
            <a:ext cx="16459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$80.2k / model · $72k / yr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80360"/>
            <a:ext cx="580644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880360"/>
            <a:ext cx="5806440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63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What ABSA 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2900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482"/>
                </a:solidFill>
                <a:latin typeface="Calibri"/>
              </a:rPr>
              <a:t>An enterprise-grade ML platform the bank can audit, trust and scale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3794760"/>
            <a:ext cx="41605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Model idea → production in &lt; 7 days once the platform is live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343400"/>
            <a:ext cx="91440" cy="9144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33672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233672"/>
            <a:ext cx="41605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Every decision is reproducible, explained and audit-evidenced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4782312"/>
            <a:ext cx="91440" cy="9144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672584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Resilience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672584"/>
            <a:ext cx="41605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99.5% scoring uptime, &lt;250ms P95 inference, tested failover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221224"/>
            <a:ext cx="91440" cy="9144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11496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5111496"/>
            <a:ext cx="41605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POPIA · SARB GOI 3/5 · SR 11-7 · ISO 27001 · SOC 2 Type II aligned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660136"/>
            <a:ext cx="91440" cy="9144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55040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550408"/>
            <a:ext cx="41605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Raw data stays in ABSA; only model-ready data crosses the boundary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880360"/>
            <a:ext cx="562356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2880360"/>
            <a:ext cx="5623560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063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What EXL brings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42900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482"/>
                </a:solidFill>
                <a:latin typeface="Calibri"/>
              </a:rPr>
              <a:t>A battle-tested MLOps practice for regulated financial services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3904488"/>
            <a:ext cx="91440" cy="9144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379476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Reference architecture already deployed at Tier-1 banks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4343400"/>
            <a:ext cx="91440" cy="9144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4233672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Governance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233672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Pre-built SR 11-7 control library mapped to ABSA GMRMG</a:t>
            </a:r>
          </a:p>
        </p:txBody>
      </p:sp>
      <p:sp>
        <p:nvSpPr>
          <p:cNvPr id="54" name="Oval 53"/>
          <p:cNvSpPr/>
          <p:nvPr/>
        </p:nvSpPr>
        <p:spPr>
          <a:xfrm>
            <a:off x="6492240" y="4782312"/>
            <a:ext cx="91440" cy="9144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672584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Services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4672584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Fixed-price service catalog — platform, model onboarding, run</a:t>
            </a:r>
          </a:p>
        </p:txBody>
      </p:sp>
      <p:sp>
        <p:nvSpPr>
          <p:cNvPr id="57" name="Oval 56"/>
          <p:cNvSpPr/>
          <p:nvPr/>
        </p:nvSpPr>
        <p:spPr>
          <a:xfrm>
            <a:off x="6492240" y="5221224"/>
            <a:ext cx="91440" cy="9144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111496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Playbook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5111496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5-month delivery plan with weekly evidence milestones</a:t>
            </a:r>
          </a:p>
        </p:txBody>
      </p:sp>
      <p:sp>
        <p:nvSpPr>
          <p:cNvPr id="60" name="Oval 59"/>
          <p:cNvSpPr/>
          <p:nvPr/>
        </p:nvSpPr>
        <p:spPr>
          <a:xfrm>
            <a:off x="6492240" y="5660136"/>
            <a:ext cx="91440" cy="9144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555040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Exit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5550408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Full IP/artefact handover — no lock-in to EXL run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1 · THE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Why act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ABSA's model estate has outgrown the infrastructure that supports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11567160" cy="777240"/>
          </a:xfrm>
          <a:prstGeom prst="roundRect">
            <a:avLst>
              <a:gd name="adj" fmla="val 8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3385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Today: •  manual handoffs   •  inconsistent controls   •  slow deployments   •  rising regulator scrutiny   •  fragmented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377440"/>
            <a:ext cx="37947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77440"/>
            <a:ext cx="3794760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77440"/>
            <a:ext cx="37947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BUSINESS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34290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Models drive decisions on credit, fraud and collections — slow or unreliable models cost revenue and trust.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Slow model 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8-12 weeks to re-deploy a retuned model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72584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Stale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Drift goes undetected until it hurts P&amp;L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404104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Hidden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Decisions happen on models without current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87952" y="2377440"/>
            <a:ext cx="37947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2377440"/>
            <a:ext cx="3794760" cy="43891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2377440"/>
            <a:ext cx="37947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REGULATORY PRESSURE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26080"/>
            <a:ext cx="34290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SARB, POPIA and the SR 11-7 frame expect continuous validation and auditable lineage for every model in production.</a:t>
            </a:r>
          </a:p>
        </p:txBody>
      </p:sp>
      <p:sp>
        <p:nvSpPr>
          <p:cNvPr id="29" name="Oval 28"/>
          <p:cNvSpPr/>
          <p:nvPr/>
        </p:nvSpPr>
        <p:spPr>
          <a:xfrm>
            <a:off x="4416552" y="3941064"/>
            <a:ext cx="109728" cy="10972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79476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POPIA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069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Personal data must not cross the bank boundary unprotected</a:t>
            </a:r>
          </a:p>
        </p:txBody>
      </p:sp>
      <p:sp>
        <p:nvSpPr>
          <p:cNvPr id="32" name="Oval 31"/>
          <p:cNvSpPr/>
          <p:nvPr/>
        </p:nvSpPr>
        <p:spPr>
          <a:xfrm>
            <a:off x="4416552" y="4672584"/>
            <a:ext cx="109728" cy="10972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452628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SARB GOI 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80060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risk framework with evidence of ongoing validation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416552" y="5404104"/>
            <a:ext cx="109728" cy="10972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5257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SR 11-7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5532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Independent validation, documentation, challenge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5864" y="2377440"/>
            <a:ext cx="37947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5864" y="2377440"/>
            <a:ext cx="3794760" cy="4389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55864" y="2377440"/>
            <a:ext cx="37947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OPERATIONAL PRESSURE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2926080"/>
            <a:ext cx="34290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ML engineers, risk, IT and the business each carry separate tools and workflows — integration is brittle and expensive.</a:t>
            </a:r>
          </a:p>
        </p:txBody>
      </p:sp>
      <p:sp>
        <p:nvSpPr>
          <p:cNvPr id="42" name="Oval 41"/>
          <p:cNvSpPr/>
          <p:nvPr/>
        </p:nvSpPr>
        <p:spPr>
          <a:xfrm>
            <a:off x="8284464" y="3941064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379476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Tool sprawl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13064" y="4069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Different stacks per model type; no common registry</a:t>
            </a:r>
          </a:p>
        </p:txBody>
      </p:sp>
      <p:sp>
        <p:nvSpPr>
          <p:cNvPr id="45" name="Oval 44"/>
          <p:cNvSpPr/>
          <p:nvPr/>
        </p:nvSpPr>
        <p:spPr>
          <a:xfrm>
            <a:off x="8284464" y="4672584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4" y="452628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No single pane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3064" y="480060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Ops, risk and business all chase the same data</a:t>
            </a:r>
          </a:p>
        </p:txBody>
      </p:sp>
      <p:sp>
        <p:nvSpPr>
          <p:cNvPr id="48" name="Oval 47"/>
          <p:cNvSpPr/>
          <p:nvPr/>
        </p:nvSpPr>
        <p:spPr>
          <a:xfrm>
            <a:off x="8284464" y="5404104"/>
            <a:ext cx="109728" cy="10972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4" y="5257800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Key-person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13064" y="5532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Institutional knowledge sits in notebooks and heads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6263640"/>
            <a:ext cx="11567160" cy="201168"/>
          </a:xfrm>
          <a:prstGeom prst="roundRect">
            <a:avLst>
              <a:gd name="adj" fmla="val 40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263640"/>
            <a:ext cx="1156716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shift we propose:  from scattered, manual, slow  →  one governed, automated, auditable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1 · THE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Our proposition — three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One platform, one process, one team — delivered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3867912" cy="46634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3867912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691640"/>
            <a:ext cx="258775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29968"/>
            <a:ext cx="2587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A single, audited home for every ABSA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3319272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One AWS-native environment with secure ingestion, Pipeline Factory, registry, serving, monitoring and drift.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9359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9359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52044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Real-time &amp; batch scoring at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9651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9651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2336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Every model version, lineage intact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9943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9943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52628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Drift, latency, explainability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0235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10235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502920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POPIA · SR 11-7 · ISO 27001 baked-in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3410712" cy="18288"/>
          </a:xfrm>
          <a:prstGeom prst="rect">
            <a:avLst/>
          </a:prstGeom>
          <a:solidFill>
            <a:srgbClr val="DA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760720"/>
            <a:ext cx="331927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Speaks to IT, Risk, Architecture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1417320"/>
            <a:ext cx="3867912" cy="46634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79392" y="1417320"/>
            <a:ext cx="3867912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9432" y="1691640"/>
            <a:ext cx="685800" cy="68580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169164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112" y="1691640"/>
            <a:ext cx="258775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E5A24"/>
                </a:solidFill>
                <a:latin typeface="Calibri"/>
              </a:rPr>
              <a:t>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029968"/>
            <a:ext cx="2587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A repeatable lifecycle from idea to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606040"/>
            <a:ext cx="3319272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Track A onboards each new model through the Pipeline Factory; Track B runs it on cadence — gated reviews, evidence capture and rollback throughout.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53712" y="359359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359359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352044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Notebook → pipeline → candidate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409651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3712" y="409651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4144" y="402336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IVU challenge, fairness, explainability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459943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459943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144" y="452628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Canary / blue-green with approvals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510235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10235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502920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Drift, retraining, incident response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5715000"/>
            <a:ext cx="3410712" cy="18288"/>
          </a:xfrm>
          <a:prstGeom prst="rect">
            <a:avLst/>
          </a:prstGeom>
          <a:solidFill>
            <a:srgbClr val="DA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760720"/>
            <a:ext cx="331927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Speaks to Model Risk, Operations, Compliance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38744" y="1417320"/>
            <a:ext cx="3867912" cy="46634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38744" y="1417320"/>
            <a:ext cx="3867912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58784" y="169164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169164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7464" y="1691640"/>
            <a:ext cx="258775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PEOPLE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27464" y="2029968"/>
            <a:ext cx="2587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A 10-FTE pod that transfers skills, not dependency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2606040"/>
            <a:ext cx="3319272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EXL experts work alongside ABSA teams — 8 offshore + 2 onsite Industrialization at ABSA — with a clear exit path.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13064" y="359359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13064" y="359359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3496" y="352044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Engagement Lead / Solution Architect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13064" y="409651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13064" y="409651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3496" y="402336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MLOps Tech Lead + Senior MLEs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13064" y="459943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459943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452628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DevOps / SRE + Data Engineer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13064" y="5102352"/>
            <a:ext cx="1097280" cy="292608"/>
          </a:xfrm>
          <a:prstGeom prst="roundRect">
            <a:avLst>
              <a:gd name="adj" fmla="val 4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510235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83496" y="5029200"/>
            <a:ext cx="231343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Onsite Industrialization Team at ABSA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67344" y="5715000"/>
            <a:ext cx="3410712" cy="18288"/>
          </a:xfrm>
          <a:prstGeom prst="rect">
            <a:avLst/>
          </a:prstGeom>
          <a:solidFill>
            <a:srgbClr val="DA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13064" y="5760720"/>
            <a:ext cx="331927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Speaks to Analytics Leadership, HR, Finance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263640"/>
            <a:ext cx="115214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B7482"/>
                </a:solidFill>
                <a:latin typeface="Calibri"/>
              </a:rPr>
              <a:t>Each pillar is priced, scoped and delivered together — not picked à la carte.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1 · THE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Business outcomes we commit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Every outcome has a measurable KPI, a baseline and a target at go-live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67160" cy="41148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2468880" cy="41148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3154680" cy="41148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IT MEANS FOR ABSA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2148840" cy="41148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1783080" cy="41148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417320"/>
            <a:ext cx="1828800" cy="41148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TARGET (GO-LIVE)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115671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828800"/>
            <a:ext cx="73152" cy="5303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28800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Speed to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828800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Retrained or new models reach production in days, not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Time from sign-off → prod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8-12 wks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828800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EE5A24"/>
                </a:solidFill>
                <a:latin typeface="Calibri"/>
              </a:rPr>
              <a:t>&lt; 7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9152"/>
            <a:ext cx="11567160" cy="53035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359152"/>
            <a:ext cx="73152" cy="5303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359152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Scoring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359152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Decisioning systems stay up; P95 latency doesn't slip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359152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Scoring uptime / P95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59152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~98% / 600ms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59152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0A896"/>
                </a:solidFill>
                <a:latin typeface="Calibri"/>
              </a:rPr>
              <a:t>99.5% / &lt;250ms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89504"/>
            <a:ext cx="115671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889504"/>
            <a:ext cx="73152" cy="5303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89504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Audit-readiness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2889504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Any regulator query answerable from the platform in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889504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Coverage of model evidence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889504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~60%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889504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419856"/>
            <a:ext cx="11567160" cy="53035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419856"/>
            <a:ext cx="73152" cy="53035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419856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Drift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419856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Silent model degradation is caught before it hurts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419856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Drift check frequency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419856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Quarterly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419856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E89A1F"/>
                </a:solidFill>
                <a:latin typeface="Calibri"/>
              </a:rPr>
              <a:t>Daily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950208"/>
            <a:ext cx="115671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950208"/>
            <a:ext cx="73152" cy="530352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950208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Cost per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950208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Predictable unit economics for the CFO and model owners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950208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Fixed run fee / model / yr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950208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Not tracked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950208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B3F8E"/>
                </a:solidFill>
                <a:latin typeface="Calibri"/>
              </a:rPr>
              <a:t>$72k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480560"/>
            <a:ext cx="11567160" cy="53035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4480560"/>
            <a:ext cx="73152" cy="5303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480560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Platform safety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4480560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Zero uncontained personal-data incidents, ever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4480560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POPIA-material incidents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480560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480560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8102E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010912"/>
            <a:ext cx="115671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5010912"/>
            <a:ext cx="73152" cy="5303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010912"/>
            <a:ext cx="233172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People leverage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010912"/>
            <a:ext cx="31546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ABSA's own ML engineers own and extend the platform post-exit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5010912"/>
            <a:ext cx="21488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ABSA engineers platform-certified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5010912"/>
            <a:ext cx="17830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7482"/>
                </a:solidFill>
                <a:latin typeface="Calibri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5010912"/>
            <a:ext cx="1828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E8B57"/>
                </a:solidFill>
                <a:latin typeface="Calibri"/>
              </a:rPr>
              <a:t>≥ 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263640"/>
            <a:ext cx="11567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B7482"/>
                </a:solidFill>
                <a:latin typeface="Calibri"/>
              </a:rPr>
              <a:t>Targets are committed in the MSA; each has an operational SLO, a review cadence and an escalation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Two-track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Track A industrializes new models through a Pipeline Factory; Track B runs scheduled scoring with governed reconciliation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73152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8102E"/>
                </a:solidFill>
                <a:latin typeface="Calibri"/>
              </a:rPr>
              <a:t>MODEL INDUSTRIALIZATION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EXL at ABSA turns developer SAS + inference code into production-ready pipelines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EE5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73152" cy="62179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ONE-TIME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Each model is onboarded once through the Pipeline Factory — template + config generated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73152" cy="6217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RECURRING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Scheduled runs (daily · weekly · monthly) execute the registered scoring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325880"/>
            <a:ext cx="73152" cy="62179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END-TO-END GOVERNED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PIR reconciliation on every run · audit evidence at each step · SLA-tracked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103120"/>
            <a:ext cx="11567160" cy="16916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0160">
            <a:solidFill>
              <a:srgbClr val="EE5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103120"/>
            <a:ext cx="137160" cy="169164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176272"/>
            <a:ext cx="7772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E5A24"/>
                </a:solidFill>
                <a:latin typeface="Calibri"/>
              </a:rPr>
              <a:t>TRACK A  ·  MODEL ONBOARDING &amp; PIPELINE FACTORY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432304"/>
            <a:ext cx="868680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One-time per model — dev code → production-ready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46732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6732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Developer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SAS + inference code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from ABSA model team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48484.0" y="3218688.0"/>
            <a:ext cx="109728.0" cy="0.0"/>
          </a:xfrm>
          <a:prstGeom prst="line">
            <a:avLst/>
          </a:prstGeom>
          <a:ln w="19050">
            <a:solidFill>
              <a:srgbClr val="EE5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467356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67356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919728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19728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95372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EXL Industrialization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5372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Onsite team standardizes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and packages for prod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21480.0" y="3218688.0"/>
            <a:ext cx="109728.0" cy="0.0"/>
          </a:xfrm>
          <a:prstGeom prst="line">
            <a:avLst/>
          </a:prstGeom>
          <a:ln w="19050">
            <a:solidFill>
              <a:srgbClr val="EE5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340352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0352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792724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92724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8368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Controlled Handoff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8368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Code + metadata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PrivateLink · signed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94476.0" y="3218688.0"/>
            <a:ext cx="109728.0" cy="0.0"/>
          </a:xfrm>
          <a:prstGeom prst="line">
            <a:avLst/>
          </a:prstGeom>
          <a:ln w="19050">
            <a:solidFill>
              <a:srgbClr val="EE5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213348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3348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65720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5720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1364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EXL Code Intake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1364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Validation · contract tests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metadata captured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67472.0" y="3218688.0"/>
            <a:ext cx="109728.0" cy="0.0"/>
          </a:xfrm>
          <a:prstGeom prst="line">
            <a:avLst/>
          </a:prstGeom>
          <a:ln w="19050">
            <a:solidFill>
              <a:srgbClr val="EE5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086344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6344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38716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38716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4360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Pipeline Factory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4360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Template + config gen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schedule · DQ · PIR hooks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40468.0" y="3218688.0"/>
            <a:ext cx="109728.0" cy="0.0"/>
          </a:xfrm>
          <a:prstGeom prst="line">
            <a:avLst/>
          </a:prstGeom>
          <a:ln w="19050">
            <a:solidFill>
              <a:srgbClr val="EE5A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959340" y="27249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59340" y="2724912"/>
            <a:ext cx="1744980" cy="6400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11712" y="2862072"/>
            <a:ext cx="201168" cy="20116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11712" y="28620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87356" y="28620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Registry Updated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87356" y="32278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Model + pipeline versioned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SLA · owner · approval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" y="3931920"/>
            <a:ext cx="11567160" cy="16916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016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0040" y="3931920"/>
            <a:ext cx="137160" cy="16916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005072"/>
            <a:ext cx="7772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A896"/>
                </a:solidFill>
                <a:latin typeface="Calibri"/>
              </a:rPr>
              <a:t>TRACK B  ·  SCHEDULED SCORING EXECUTION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261104"/>
            <a:ext cx="868680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Recurring daily / weekly / monthly — source data → scored output → ABSA consumption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4360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046732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46732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ABSA Source + Scheduler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76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SAS batch triggers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on daily / weekly / monthly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348484.0" y="5047488.0"/>
            <a:ext cx="109728.0" cy="0.0"/>
          </a:xfrm>
          <a:prstGeom prst="line">
            <a:avLst/>
          </a:prstGeom>
          <a:ln w="190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2467356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67356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919728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19728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95372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Secure Handoff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95372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S3 replication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PrivateLink · KMS-ABSA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221480.0" y="5047488.0"/>
            <a:ext cx="109728.0" cy="0.0"/>
          </a:xfrm>
          <a:prstGeom prst="line">
            <a:avLst/>
          </a:prstGeom>
          <a:ln w="190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4340352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40352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92724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92724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68368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EXL Landing + DQ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68368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Schema · volume · drift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anomaly alerts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094476.0" y="5047488.0"/>
            <a:ext cx="109728.0" cy="0.0"/>
          </a:xfrm>
          <a:prstGeom prst="line">
            <a:avLst/>
          </a:prstGeom>
          <a:ln w="190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6213348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13348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65720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65720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41364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Scoring Engine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41364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Model routed by registry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tiered by volume &amp; cadence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967472.0" y="5047488.0"/>
            <a:ext cx="109728.0" cy="0.0"/>
          </a:xfrm>
          <a:prstGeom prst="line">
            <a:avLst/>
          </a:prstGeom>
          <a:ln w="190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8086344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86344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38716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38716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14360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PIR Reconciliation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14360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Scores vs developer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evidence · variance gate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840468.0" y="5047488.0"/>
            <a:ext cx="109728.0" cy="0.0"/>
          </a:xfrm>
          <a:prstGeom prst="line">
            <a:avLst/>
          </a:prstGeom>
          <a:ln w="190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9959340" y="4553712"/>
            <a:ext cx="17449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59340" y="4553712"/>
            <a:ext cx="1744980" cy="640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11712" y="4690872"/>
            <a:ext cx="201168" cy="2011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411712" y="4690872"/>
            <a:ext cx="201168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87356" y="4690872"/>
            <a:ext cx="130606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Secure Delivery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87356" y="5056632"/>
            <a:ext cx="15621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SFTP · API Gateway · SNS</a:t>
            </a:r>
          </a:p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6B7482"/>
                </a:solidFill>
                <a:latin typeface="Calibri"/>
              </a:rPr>
              <a:t>WAF-controlled access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69680" y="3730752"/>
            <a:ext cx="29260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1">
                <a:solidFill>
                  <a:srgbClr val="0A2240"/>
                </a:solidFill>
                <a:latin typeface="Calibri"/>
              </a:rPr>
              <a:t>↓   Registry feeds scoring   ↓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20040" y="5760720"/>
            <a:ext cx="11567160" cy="548640"/>
          </a:xfrm>
          <a:prstGeom prst="roundRect">
            <a:avLst>
              <a:gd name="adj" fmla="val 6000"/>
            </a:avLst>
          </a:prstGeom>
          <a:solidFill>
            <a:srgbClr val="FAEED4"/>
          </a:solidFill>
          <a:ln w="1270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7607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EXL industrializes ABSA-developed SAS models into a governed, repeatable scoring framework — new models are onboarded once through a Pipeline Factory; recurring scoring runs execute through a secure, auditable Model Scoring Engine.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Track A — Model Onboarding &amp; Pipeline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One-time per model: from developer code to a production-ready, registered scoring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67160" cy="3840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548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417320"/>
            <a:ext cx="26060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417320"/>
            <a:ext cx="274320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ACTOR /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2834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CONTROL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417320"/>
            <a:ext cx="2834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OUTPUT /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11567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" y="197053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705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2880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Developer SAS + inference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82880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ABSA model 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Peer review · source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2880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Versioned dev artefact ready to onboard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31720"/>
            <a:ext cx="11567160" cy="502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247345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734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33172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EXL resources at ABSA pick up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33172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Industrialization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33172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Onsite at ABSA · no core-logic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33172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Standardized productization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34640"/>
            <a:ext cx="11567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" y="297637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9763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83464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Productization / institutionalization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283464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SAS Productization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83464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Naming · structure · I/O contract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83464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Approved, product-ready package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337560"/>
            <a:ext cx="11567160" cy="502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" y="347929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792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3756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ABSA controlled code + data handoff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33756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Controlled Handoff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3375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Signed · PrivateLink · manifest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3375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Tamper-proof code movement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840480"/>
            <a:ext cx="11567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480" y="398221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9822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384048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EXL landing — code intake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404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EXL Landing Zone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84048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Bucket policy · KMS · object-lock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84048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Tamper-evident arrival 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343400"/>
            <a:ext cx="11567160" cy="502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1480" y="448513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4851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34340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Code validation + metadata capture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434340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Code Validation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34340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Static scans · schema · tests · PIR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Only verified code moves forward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846320"/>
            <a:ext cx="11567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80" y="498805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49880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484632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Pipeline factory generates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484632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Pipeline Factory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484632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Template · config · schedule · DQ map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484632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Auto-configured scoring pipeline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349240"/>
            <a:ext cx="11567160" cy="502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1480" y="549097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54909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5349240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Register model + pipeline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0" y="534924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&amp; Pipeline Registry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34924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Version · owner · SLA · approval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534924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Pipeline live in registry, ready to schedule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5989320"/>
            <a:ext cx="11567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Once a model is registered (Step 8), it flows into Track B — the recurring Scheduled Scoring Execution pipeline (next slide).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Track B — Scheduled Scoring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Recurring runs: ABSA source data → governed scoring → reconciled, audited output delivered back to ABSA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67160" cy="3840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548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417320"/>
            <a:ext cx="26060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417320"/>
            <a:ext cx="274320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ACTOR /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2834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CONTROL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417320"/>
            <a:ext cx="2834640" cy="3840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OUTPUT /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" y="187452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74520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2880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ABSA source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828800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Core banking · risk 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POPIA boundary · no raw egress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2880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Raw data stays in ABSA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139696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2185416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85416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139696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ABSA SAS scheduler / 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139696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ABSA SAS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3969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Cadence per model (daily · weekly · monthly)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13969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Trigger fires on registered cadence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450592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" y="249631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4963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450592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ABSA landing / handoff 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2450592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ABSA-owned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45059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Schema contract · manifest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45059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Model-ready tables staged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761488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1480" y="2807208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807208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2761488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S3 replication / secure transfer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2761488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PrivateLink · KMS-ABSA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761488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Envelope encryption · no public internet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761488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Only model-ready data crosses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072384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480" y="3118104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118104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3072384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EXL landing zone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072384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EXL Staging S3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072384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Bucket policy · object-lock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072384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Tamper-proof arrival 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383280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1480" y="342900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429000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338328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Data validation &amp; DQ checks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3383280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Great Expectations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Schema · volume · drift · alert-on-fail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338328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Bad data never reaches scoring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694176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80" y="3739896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739896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694176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Designated model data zone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3694176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Per-model data store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369417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Access scoped · lineage-tagged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369417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Isolation between model cohorts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005072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1480" y="405079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0507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005072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Scoring trigger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0" y="4005072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Scheduler / EventBridge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400507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Registry lookup · SLA clock starts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400507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Right pipeline fires at right time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315968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1480" y="4361688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4361688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4315968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Model scoring engine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0" y="4315968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Tiered scoring pipeline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4315968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App daily 20k rows · Scoring weekly/monthly 2M–6M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0" y="4315968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Scalable execution by model class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626864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11480" y="4672584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672584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4626864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Score output generation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74720" y="4626864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Output writer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4626864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Snapshot · versioned · lineage tag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0" y="4626864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Traceable scored dataset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4937760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1480" y="498348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983480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4937760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PIR / result reconciliation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4720" y="4937760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PIR Engine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0" y="493776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Variance vs developer evidence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0" y="4937760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Drift caught before release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5248656"/>
            <a:ext cx="11567160" cy="3108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11480" y="5294376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1480" y="5294376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" y="5248656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Secure output delivery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4720" y="5248656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SFTP · API Gateway · SNS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0" y="524865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WAF · signed URLs · ABSA IAM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0" y="5248656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Consumer apps receive scored data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5559552"/>
            <a:ext cx="115671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11480" y="56052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56052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" y="5559552"/>
            <a:ext cx="26060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Dashboard / ABSA consumption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74720" y="5559552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ABSA BI · downstream systems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555955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SLA met · success notification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52560" y="5559552"/>
            <a:ext cx="283464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Business outcome delivered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20040" y="5998464"/>
            <a:ext cx="11567160" cy="329184"/>
          </a:xfrm>
          <a:prstGeom prst="roundRect">
            <a:avLst>
              <a:gd name="adj" fmla="val 5000"/>
            </a:avLst>
          </a:prstGeom>
          <a:solidFill>
            <a:srgbClr val="FAEED4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5998464"/>
            <a:ext cx="114300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0A2240"/>
                </a:solidFill>
                <a:latin typeface="Calibri"/>
              </a:rPr>
              <a:t>Execution tiering — application models run as standard daily batch (~20k rows); scoring models run as scalable batch weekly or monthly (2M–6M rows). Tier is stored in the registry per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Technical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Four zones · one controlled path · Pipeline Factory, Registry, Scoring Engine and PIR embedded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73152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8102E"/>
                </a:solidFill>
                <a:latin typeface="Calibri"/>
              </a:rPr>
              <a:t>RAW DATA STAYS IN ABSA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Core banking &amp; risk marts never leave the ABSA trust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73152" cy="62179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9A1F"/>
                </a:solidFill>
                <a:latin typeface="Calibri"/>
              </a:rPr>
              <a:t>INDUSTRIALIZATION ONSITE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EXL team at ABSA converts developer code to production-ready packages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73152" cy="6217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GOVERNED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Only signed, model-ready code + data cross via PrivateLink + KMS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25880"/>
            <a:ext cx="2871216" cy="62179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24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325880"/>
            <a:ext cx="73152" cy="62179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325880"/>
            <a:ext cx="26883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FACTORY + SCORING IN EXL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600200"/>
            <a:ext cx="268833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Pipeline Factory generates scoring pipelines; Scoring Engine runs them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011680"/>
            <a:ext cx="11567160" cy="25603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01168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POPIA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SARB GOI 3/5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SR 11-7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ISO 27001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SOC 2 Type 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011680"/>
            <a:ext cx="16002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ABSA GMRMG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2340864"/>
            <a:ext cx="3108960" cy="30175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340864"/>
            <a:ext cx="3108960" cy="42062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340864"/>
            <a:ext cx="310896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ABSA TRUST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2743200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Source + industrialization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" y="3017520"/>
            <a:ext cx="2889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3017520"/>
            <a:ext cx="2706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Core Banking / Risk Mart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3201863"/>
            <a:ext cx="2706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cards, deposits, loans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" y="3456432"/>
            <a:ext cx="2889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3456432"/>
            <a:ext cx="2706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Raw Data Lake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" y="3640775"/>
            <a:ext cx="2706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ABSA-owned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" y="3895344"/>
            <a:ext cx="2889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" y="3895344"/>
            <a:ext cx="2706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Industrialization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" y="4079687"/>
            <a:ext cx="2706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EXL onsite · SAS productization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" y="4334255"/>
            <a:ext cx="2889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4334255"/>
            <a:ext cx="2706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Controlled Handoff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" y="4518598"/>
            <a:ext cx="2706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signed code + model-ready 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11880" y="2340864"/>
            <a:ext cx="1280160" cy="30175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11880" y="2340864"/>
            <a:ext cx="1280160" cy="420624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2340864"/>
            <a:ext cx="128016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SECURE TRANSIT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2743200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PrivateLink + KMS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74920" y="2340864"/>
            <a:ext cx="2377440" cy="30175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74920" y="2340864"/>
            <a:ext cx="2377440" cy="42062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74920" y="2340864"/>
            <a:ext cx="23774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EXL LANDING &amp; SANITY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2743200"/>
            <a:ext cx="23774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Ingest + DQ + lineage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84648" y="3017520"/>
            <a:ext cx="215798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76088" y="3017520"/>
            <a:ext cx="197510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Staging S3 + KMS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76088" y="3201863"/>
            <a:ext cx="197510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tamper-proof arrival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84648" y="3456432"/>
            <a:ext cx="215798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76088" y="3456432"/>
            <a:ext cx="197510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Great Expectations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76088" y="3640775"/>
            <a:ext cx="197510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schema · volume · drift · alert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84648" y="3895344"/>
            <a:ext cx="215798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76088" y="3895344"/>
            <a:ext cx="197510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Code Intake Pipeline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76088" y="4079687"/>
            <a:ext cx="197510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Track A validation + tests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84648" y="4334255"/>
            <a:ext cx="215798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76088" y="4334255"/>
            <a:ext cx="197510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Lineage &amp; Audit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76088" y="4518598"/>
            <a:ext cx="197510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end-to-end tracing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2340864"/>
            <a:ext cx="4251960" cy="30175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35240" y="2340864"/>
            <a:ext cx="4251960" cy="42062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2340864"/>
            <a:ext cx="425196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EXL PIPELINE &amp; SCORING ENCLAVE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2743200"/>
            <a:ext cx="425196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Factory · Registry · Serve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44968" y="3017520"/>
            <a:ext cx="4032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36408" y="3017520"/>
            <a:ext cx="3849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Pipeline Factory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36408" y="3201863"/>
            <a:ext cx="3849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templates · config gen · schedule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744968" y="3456432"/>
            <a:ext cx="4032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36408" y="3456432"/>
            <a:ext cx="3849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Model &amp; Pipeline Registry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36408" y="3640775"/>
            <a:ext cx="3849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versions · owners · SLA · PIR ref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44968" y="3895344"/>
            <a:ext cx="4032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36408" y="3895344"/>
            <a:ext cx="3849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Scoring Engine (tiered)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36408" y="4079687"/>
            <a:ext cx="3849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app daily 20k · scoring 2M–6M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44968" y="4334255"/>
            <a:ext cx="4032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36408" y="4334255"/>
            <a:ext cx="3849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PIR Engine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36408" y="4518598"/>
            <a:ext cx="3849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variance vs developer evidence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44968" y="4773168"/>
            <a:ext cx="403250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36408" y="4773168"/>
            <a:ext cx="3849624" cy="1920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Secure Delivery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36408" y="4957511"/>
            <a:ext cx="3849624" cy="1997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SFTP · API Gateway · SNS · WAF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429000" y="4526280"/>
            <a:ext cx="182880" cy="0"/>
          </a:xfrm>
          <a:prstGeom prst="line">
            <a:avLst/>
          </a:prstGeom>
          <a:ln w="31750">
            <a:solidFill>
              <a:srgbClr val="C810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3392424" y="4398264"/>
            <a:ext cx="256032" cy="25603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92424" y="4398264"/>
            <a:ext cx="25603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97096" y="3017520"/>
            <a:ext cx="109728" cy="2011680"/>
          </a:xfrm>
          <a:prstGeom prst="roundRect">
            <a:avLst>
              <a:gd name="adj" fmla="val 50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685032" y="3017520"/>
            <a:ext cx="1133856" cy="256032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85032" y="3017520"/>
            <a:ext cx="113385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9A1F"/>
                </a:solidFill>
                <a:latin typeface="Calibri"/>
              </a:rPr>
              <a:t>TLS 1.2+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85032" y="3456432"/>
            <a:ext cx="1133856" cy="256032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85032" y="3456432"/>
            <a:ext cx="113385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9A1F"/>
                </a:solidFill>
                <a:latin typeface="Calibri"/>
              </a:rPr>
              <a:t>PrivateLink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85032" y="3895344"/>
            <a:ext cx="1133856" cy="256032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85032" y="3895344"/>
            <a:ext cx="113385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9A1F"/>
                </a:solidFill>
                <a:latin typeface="Calibri"/>
              </a:rPr>
              <a:t>KMS (ABSA)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685032" y="4334255"/>
            <a:ext cx="1133856" cy="256032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85032" y="4334255"/>
            <a:ext cx="113385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9A1F"/>
                </a:solidFill>
                <a:latin typeface="Calibri"/>
              </a:rPr>
              <a:t>IAM Trust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85032" y="4773168"/>
            <a:ext cx="1133856" cy="256032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016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85032" y="4773168"/>
            <a:ext cx="113385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9A1F"/>
                </a:solidFill>
                <a:latin typeface="Calibri"/>
              </a:rPr>
              <a:t>CloudTrail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892040" y="3648456"/>
            <a:ext cx="182880" cy="0"/>
          </a:xfrm>
          <a:prstGeom prst="line">
            <a:avLst/>
          </a:prstGeom>
          <a:ln w="31750">
            <a:solidFill>
              <a:srgbClr val="E89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4855464" y="3520440"/>
            <a:ext cx="256032" cy="256032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55464" y="3520440"/>
            <a:ext cx="25603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7452360" y="3209544"/>
            <a:ext cx="182880" cy="0"/>
          </a:xfrm>
          <a:prstGeom prst="line">
            <a:avLst/>
          </a:prstGeom>
          <a:ln w="31750">
            <a:solidFill>
              <a:srgbClr val="00A8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7415784" y="308152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15784" y="3081528"/>
            <a:ext cx="25603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09" name="Connector 108"/>
          <p:cNvCxnSpPr/>
          <p:nvPr/>
        </p:nvCxnSpPr>
        <p:spPr>
          <a:xfrm flipH="1">
            <a:off x="457200" y="5541264"/>
            <a:ext cx="11292840" cy="0"/>
          </a:xfrm>
          <a:prstGeom prst="line">
            <a:avLst/>
          </a:prstGeom>
          <a:ln w="19050">
            <a:solidFill>
              <a:srgbClr val="5B3F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5971032" y="5413248"/>
            <a:ext cx="256032" cy="256032"/>
          </a:xfrm>
          <a:prstGeom prst="ellipse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71032" y="5413248"/>
            <a:ext cx="25603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60320" y="5303520"/>
            <a:ext cx="41148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1">
                <a:solidFill>
                  <a:srgbClr val="5B3F8E"/>
                </a:solidFill>
                <a:latin typeface="Calibri"/>
              </a:rPr>
              <a:t>retrain &amp; PIR variance feedback to Industrialization Team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815584"/>
            <a:ext cx="11567160" cy="25603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1480" y="5815584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0A896"/>
                </a:solidFill>
                <a:latin typeface="Calibri"/>
              </a:rPr>
              <a:t>OBSERVABILITY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40280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CloudWatch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18411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96542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CloudTrail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74673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AWS Config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752804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GuardDuty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30935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Macie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09066" y="5815584"/>
            <a:ext cx="1378131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SIEM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0040" y="6053328"/>
            <a:ext cx="2310323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5A24"/>
                </a:solidFill>
                <a:latin typeface="Calibri"/>
              </a:rPr>
              <a:t>&lt; 7 days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" y="6254496"/>
            <a:ext cx="2310323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482"/>
                </a:solidFill>
                <a:latin typeface="Calibri"/>
              </a:rPr>
              <a:t>model onboard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30363" y="6053328"/>
            <a:ext cx="2310323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5A24"/>
                </a:solidFill>
                <a:latin typeface="Calibri"/>
              </a:rPr>
              <a:t>99.5%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30363" y="6254496"/>
            <a:ext cx="2310323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482"/>
                </a:solidFill>
                <a:latin typeface="Calibri"/>
              </a:rPr>
              <a:t>scoring uptime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940686" y="6053328"/>
            <a:ext cx="2310323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5A24"/>
                </a:solidFill>
                <a:latin typeface="Calibri"/>
              </a:rPr>
              <a:t>&lt; 250ms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40686" y="6254496"/>
            <a:ext cx="2310323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482"/>
                </a:solidFill>
                <a:latin typeface="Calibri"/>
              </a:rPr>
              <a:t>P95 inference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51009" y="6053328"/>
            <a:ext cx="2310323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5A24"/>
                </a:solidFill>
                <a:latin typeface="Calibri"/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51009" y="6254496"/>
            <a:ext cx="2310323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482"/>
                </a:solidFill>
                <a:latin typeface="Calibri"/>
              </a:rPr>
              <a:t>PIR reconciled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61332" y="6053328"/>
            <a:ext cx="2310323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5A24"/>
                </a:solidFill>
                <a:latin typeface="Calibri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61332" y="6254496"/>
            <a:ext cx="2310323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482"/>
                </a:solidFill>
                <a:latin typeface="Calibri"/>
              </a:rPr>
              <a:t>raw data egress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MLOps lifecycle — gated, closed-loop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Seven stages, four mandatory gates, continuous feedback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2011680"/>
            <a:ext cx="4114800" cy="4114800"/>
          </a:xfrm>
          <a:prstGeom prst="ellipse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3246120"/>
            <a:ext cx="1645920" cy="16459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566160"/>
            <a:ext cx="16459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AUDIT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88620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immutable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for every release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91840" y="2240280"/>
            <a:ext cx="0" cy="1828800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88920" y="1984248"/>
            <a:ext cx="1005840" cy="512064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984248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 BUILD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2928842"/>
            <a:ext cx="1429813" cy="1140238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18733" y="2672810"/>
            <a:ext cx="1005840" cy="5120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8733" y="2672810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 VALIDATE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4069080"/>
            <a:ext cx="1782948" cy="406946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71868" y="4219994"/>
            <a:ext cx="1005840" cy="512064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868" y="4219994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 GOVERN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4069080"/>
            <a:ext cx="793486" cy="1647691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582406" y="5460739"/>
            <a:ext cx="1005840" cy="512064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2406" y="5460739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 DEPLOY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98354" y="4069080"/>
            <a:ext cx="793486" cy="1647691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995434" y="5460739"/>
            <a:ext cx="1005840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5434" y="5460739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 OPERATE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508892" y="4069080"/>
            <a:ext cx="1782948" cy="406946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05972" y="4219994"/>
            <a:ext cx="1005840" cy="512064"/>
          </a:xfrm>
          <a:prstGeom prst="ellipse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972" y="4219994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 MONITOR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1862027" y="2928842"/>
            <a:ext cx="1429813" cy="1140238"/>
          </a:xfrm>
          <a:prstGeom prst="line">
            <a:avLst/>
          </a:prstGeom>
          <a:ln w="10160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359107" y="2672810"/>
            <a:ext cx="1005840" cy="51206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9107" y="2672810"/>
            <a:ext cx="10058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7 RETRAIN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91840" y="2240280"/>
            <a:ext cx="786319.5" cy="195989.0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78159.5" y="2436269.0"/>
            <a:ext cx="643493.5" cy="492573.0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21653" y="2928842"/>
            <a:ext cx="337032.5" cy="736967.0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58685.5" y="3665809.0"/>
            <a:ext cx="16102.5" cy="810217.0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708740.0" y="4476026"/>
            <a:ext cx="366048.0" cy="722993.5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085326" y="5199019.5"/>
            <a:ext cx="623414.0" cy="517751.5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291840.0" y="5716771"/>
            <a:ext cx="793486.0" cy="164592.0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498354" y="5716771"/>
            <a:ext cx="793486.0" cy="164592.0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874940.0" y="5199019.5"/>
            <a:ext cx="623414.0" cy="517751.5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508892" y="4476026"/>
            <a:ext cx="366048.0" cy="722993.5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508892" y="3665809.0"/>
            <a:ext cx="16102.5" cy="810217.0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24994.5" y="2928842"/>
            <a:ext cx="337032.5" cy="736967.0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62027" y="2436269.0"/>
            <a:ext cx="643493.5" cy="492573.0"/>
          </a:xfrm>
          <a:prstGeom prst="line">
            <a:avLst/>
          </a:prstGeom>
          <a:ln w="10160">
            <a:solidFill>
              <a:srgbClr val="6B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05520.5" y="2240280"/>
            <a:ext cx="786319.5" cy="195989.0"/>
          </a:xfrm>
          <a:prstGeom prst="line">
            <a:avLst/>
          </a:prstGeom>
          <a:ln w="10160">
            <a:solidFill>
              <a:srgbClr val="6B7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" y="603504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EVIDENCE FROM EVERY STAGE FEEDS THE AUDIT HUB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0" y="1417320"/>
            <a:ext cx="5120640" cy="4892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MANDATORY GATES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1874519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No model reaches production without passing all four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40880" y="23317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233172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2331720"/>
            <a:ext cx="3703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Independent Validation (IVU)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651760"/>
            <a:ext cx="37033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Independent challenge, fairness testing, SHAP review — SR 11-7 evidence pack produced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40880" y="3291839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3291839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3291839"/>
            <a:ext cx="3703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Change Advisory Board (CAB)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3611879"/>
            <a:ext cx="37033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Risk, IT and business sign-off with rollback plan and impact assessment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0" y="42519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42519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9560" y="4251960"/>
            <a:ext cx="3703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Deploy health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4572000"/>
            <a:ext cx="37033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Canary at 5%→25%→100% with auto-rollback on SLO miss or error budget burn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40880" y="52120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4088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60" y="5212080"/>
            <a:ext cx="3703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A2240"/>
                </a:solidFill>
                <a:latin typeface="Calibri"/>
              </a:rPr>
              <a:t>Drift &amp; retrain trigger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5532120"/>
            <a:ext cx="37033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Daily PSI/KS/KL checks; breach launches retrain with re-validation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2 · THE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Security, privacy and regulation — mapped to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Every regulator expectation traces to a concrete control in the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63040"/>
            <a:ext cx="2926080" cy="868680"/>
          </a:xfrm>
          <a:prstGeom prst="roundRect">
            <a:avLst>
              <a:gd name="adj" fmla="val 4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POPIA (South Africa)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Personal information protection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4572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2704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Data sovereignty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0136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Raw PII never leaves ABSA · industrialization on-prem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4572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Lawful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0136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Purpose tag in lineage metadata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4572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52704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Security safeguards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80136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KMS-ABSA + IAM + network isolation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423160"/>
            <a:ext cx="2926080" cy="868680"/>
          </a:xfrm>
          <a:prstGeom prst="roundRect">
            <a:avLst>
              <a:gd name="adj" fmla="val 4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46888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SARB GOI 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770632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Model risk management 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42316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2423160"/>
            <a:ext cx="45720" cy="868680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48716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Validation cadence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276148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IVU gate before each release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2316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423160"/>
            <a:ext cx="45720" cy="868680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48716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76148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registry with ownership &amp; 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42316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2423160"/>
            <a:ext cx="45720" cy="868680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248716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76148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Immutable audit hub of approvals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3383280"/>
            <a:ext cx="2926080" cy="868680"/>
          </a:xfrm>
          <a:prstGeom prst="roundRect">
            <a:avLst>
              <a:gd name="adj" fmla="val 4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4290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SR 11-7 (US Fed)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730752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Model development, implementation &amp; use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38328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83280" y="3383280"/>
            <a:ext cx="45720" cy="86868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344728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Conceptual soundness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372160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Design docs + assumption log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38328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3383280"/>
            <a:ext cx="45720" cy="86868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44728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Ongoing 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72160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Drift, calibration, stability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338328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3383280"/>
            <a:ext cx="45720" cy="86868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344728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Outcomes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372160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Champion-challenger, back-tests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4343400"/>
            <a:ext cx="2926080" cy="86868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38912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ISO 27001 / SOC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690872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Information security &amp; ops controls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434340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83280" y="4343400"/>
            <a:ext cx="4572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40" y="440740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Access control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20440" y="468172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IAM policy-as-code, just-in-time access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434340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63640" y="4343400"/>
            <a:ext cx="4572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440740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Change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68172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GitOps with mandatory reviews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434340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44000" y="4343400"/>
            <a:ext cx="4572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81160" y="440740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Incident response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468172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Runbooks + tabletop exercises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5303520"/>
            <a:ext cx="2926080" cy="868680"/>
          </a:xfrm>
          <a:prstGeom prst="roundRect">
            <a:avLst>
              <a:gd name="adj" fmla="val 4000"/>
            </a:avLst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34924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ABSA GMRMG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5650992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FFFFF"/>
                </a:solidFill>
                <a:latin typeface="Calibri"/>
              </a:rPr>
              <a:t>Group model risk management guidance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530352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83280" y="5303520"/>
            <a:ext cx="45720" cy="868680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40" y="536752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Tiering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0440" y="564184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Model tier mapped to control depth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63640" y="530352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63640" y="5303520"/>
            <a:ext cx="45720" cy="868680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536752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Ownership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64184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Accountable executive per model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5303520"/>
            <a:ext cx="274320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44000" y="5303520"/>
            <a:ext cx="45720" cy="868680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5367528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Reporting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5641848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Quarterly model risk pack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3 · THE 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Operating model — how we run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One joint service with clear RACI, tiers, cadence and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RACI — who owns what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6126480" cy="32004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242316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83080"/>
            <a:ext cx="105156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ABSA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83080"/>
            <a:ext cx="105156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783080"/>
            <a:ext cx="105156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RISK / IVU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783080"/>
            <a:ext cx="54864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03120"/>
            <a:ext cx="6126480" cy="2743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10312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Business problem definition</a:t>
            </a:r>
          </a:p>
        </p:txBody>
      </p:sp>
      <p:sp>
        <p:nvSpPr>
          <p:cNvPr id="19" name="Oval 18"/>
          <p:cNvSpPr/>
          <p:nvPr/>
        </p:nvSpPr>
        <p:spPr>
          <a:xfrm>
            <a:off x="3159251" y="21305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9251" y="21305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4210811" y="213055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0811" y="21305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3" name="Oval 22"/>
          <p:cNvSpPr/>
          <p:nvPr/>
        </p:nvSpPr>
        <p:spPr>
          <a:xfrm>
            <a:off x="5262371" y="213055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2371" y="21305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6062472" y="213055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62472" y="21305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377440"/>
            <a:ext cx="6126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37744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Data sourcing &amp; entitlements</a:t>
            </a:r>
          </a:p>
        </p:txBody>
      </p:sp>
      <p:sp>
        <p:nvSpPr>
          <p:cNvPr id="29" name="Oval 28"/>
          <p:cNvSpPr/>
          <p:nvPr/>
        </p:nvSpPr>
        <p:spPr>
          <a:xfrm>
            <a:off x="3026663" y="240487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3" y="24048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3291839" y="240487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39" y="24048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3" name="Oval 32"/>
          <p:cNvSpPr/>
          <p:nvPr/>
        </p:nvSpPr>
        <p:spPr>
          <a:xfrm>
            <a:off x="4210811" y="24048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0811" y="24048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5262371" y="24048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2371" y="24048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6062472" y="240487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62472" y="24048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651760"/>
            <a:ext cx="6126480" cy="2743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65176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Platform + Pipeline Factory build</a:t>
            </a:r>
          </a:p>
        </p:txBody>
      </p:sp>
      <p:sp>
        <p:nvSpPr>
          <p:cNvPr id="41" name="Oval 40"/>
          <p:cNvSpPr/>
          <p:nvPr/>
        </p:nvSpPr>
        <p:spPr>
          <a:xfrm>
            <a:off x="3159251" y="267919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9251" y="26791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4078223" y="267919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223" y="26791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4343399" y="267919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399" y="26791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7" name="Oval 46"/>
          <p:cNvSpPr/>
          <p:nvPr/>
        </p:nvSpPr>
        <p:spPr>
          <a:xfrm>
            <a:off x="5262371" y="267919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62371" y="26791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9" name="Oval 48"/>
          <p:cNvSpPr/>
          <p:nvPr/>
        </p:nvSpPr>
        <p:spPr>
          <a:xfrm>
            <a:off x="6062472" y="267919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62472" y="26791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2926080"/>
            <a:ext cx="6126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292608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Model development (ABSA-authored)</a:t>
            </a:r>
          </a:p>
        </p:txBody>
      </p:sp>
      <p:sp>
        <p:nvSpPr>
          <p:cNvPr id="53" name="Oval 52"/>
          <p:cNvSpPr/>
          <p:nvPr/>
        </p:nvSpPr>
        <p:spPr>
          <a:xfrm>
            <a:off x="3026663" y="295351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26663" y="29535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5" name="Oval 54"/>
          <p:cNvSpPr/>
          <p:nvPr/>
        </p:nvSpPr>
        <p:spPr>
          <a:xfrm>
            <a:off x="3291839" y="295351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39" y="29535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7" name="Oval 56"/>
          <p:cNvSpPr/>
          <p:nvPr/>
        </p:nvSpPr>
        <p:spPr>
          <a:xfrm>
            <a:off x="4210811" y="295351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10811" y="29535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9" name="Oval 58"/>
          <p:cNvSpPr/>
          <p:nvPr/>
        </p:nvSpPr>
        <p:spPr>
          <a:xfrm>
            <a:off x="5262371" y="295351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2371" y="29535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Oval 60"/>
          <p:cNvSpPr/>
          <p:nvPr/>
        </p:nvSpPr>
        <p:spPr>
          <a:xfrm>
            <a:off x="6062472" y="295351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62472" y="29535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3200400"/>
            <a:ext cx="6126480" cy="2743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320040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Model onboarding (Track A)</a:t>
            </a:r>
          </a:p>
        </p:txBody>
      </p:sp>
      <p:sp>
        <p:nvSpPr>
          <p:cNvPr id="65" name="Oval 64"/>
          <p:cNvSpPr/>
          <p:nvPr/>
        </p:nvSpPr>
        <p:spPr>
          <a:xfrm>
            <a:off x="3159251" y="322783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59251" y="32278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4078223" y="322783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78223" y="32278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9" name="Oval 68"/>
          <p:cNvSpPr/>
          <p:nvPr/>
        </p:nvSpPr>
        <p:spPr>
          <a:xfrm>
            <a:off x="4343399" y="322783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3399" y="32278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71" name="Oval 70"/>
          <p:cNvSpPr/>
          <p:nvPr/>
        </p:nvSpPr>
        <p:spPr>
          <a:xfrm>
            <a:off x="5262371" y="322783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2371" y="32278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3" name="Oval 72"/>
          <p:cNvSpPr/>
          <p:nvPr/>
        </p:nvSpPr>
        <p:spPr>
          <a:xfrm>
            <a:off x="6062472" y="322783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62472" y="32278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3474720"/>
            <a:ext cx="6126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347472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Independent validation (IVU)</a:t>
            </a:r>
          </a:p>
        </p:txBody>
      </p:sp>
      <p:sp>
        <p:nvSpPr>
          <p:cNvPr id="77" name="Oval 76"/>
          <p:cNvSpPr/>
          <p:nvPr/>
        </p:nvSpPr>
        <p:spPr>
          <a:xfrm>
            <a:off x="3159251" y="350215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59251" y="35021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9" name="Oval 78"/>
          <p:cNvSpPr/>
          <p:nvPr/>
        </p:nvSpPr>
        <p:spPr>
          <a:xfrm>
            <a:off x="4210811" y="350215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0811" y="35021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1" name="Oval 80"/>
          <p:cNvSpPr/>
          <p:nvPr/>
        </p:nvSpPr>
        <p:spPr>
          <a:xfrm>
            <a:off x="5129783" y="350215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9783" y="35021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3" name="Oval 82"/>
          <p:cNvSpPr/>
          <p:nvPr/>
        </p:nvSpPr>
        <p:spPr>
          <a:xfrm>
            <a:off x="5394959" y="350215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94959" y="35021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5" name="Oval 84"/>
          <p:cNvSpPr/>
          <p:nvPr/>
        </p:nvSpPr>
        <p:spPr>
          <a:xfrm>
            <a:off x="6062472" y="350215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62472" y="350215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3749040"/>
            <a:ext cx="6126480" cy="2743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374904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Production approval (CAB)</a:t>
            </a:r>
          </a:p>
        </p:txBody>
      </p:sp>
      <p:sp>
        <p:nvSpPr>
          <p:cNvPr id="89" name="Oval 88"/>
          <p:cNvSpPr/>
          <p:nvPr/>
        </p:nvSpPr>
        <p:spPr>
          <a:xfrm>
            <a:off x="3159251" y="37764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59251" y="37764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1" name="Oval 90"/>
          <p:cNvSpPr/>
          <p:nvPr/>
        </p:nvSpPr>
        <p:spPr>
          <a:xfrm>
            <a:off x="4210811" y="37764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10811" y="37764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3" name="Oval 92"/>
          <p:cNvSpPr/>
          <p:nvPr/>
        </p:nvSpPr>
        <p:spPr>
          <a:xfrm>
            <a:off x="5262371" y="377647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62371" y="37764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5" name="Oval 94"/>
          <p:cNvSpPr/>
          <p:nvPr/>
        </p:nvSpPr>
        <p:spPr>
          <a:xfrm>
            <a:off x="5929883" y="377647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929883" y="37764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" name="Oval 96"/>
          <p:cNvSpPr/>
          <p:nvPr/>
        </p:nvSpPr>
        <p:spPr>
          <a:xfrm>
            <a:off x="6195059" y="377647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5059" y="377647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" y="4023360"/>
            <a:ext cx="6126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402336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Scheduled scoring + PIR (Track B)</a:t>
            </a:r>
          </a:p>
        </p:txBody>
      </p:sp>
      <p:sp>
        <p:nvSpPr>
          <p:cNvPr id="101" name="Oval 100"/>
          <p:cNvSpPr/>
          <p:nvPr/>
        </p:nvSpPr>
        <p:spPr>
          <a:xfrm>
            <a:off x="3159251" y="405079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159251" y="40507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3" name="Oval 102"/>
          <p:cNvSpPr/>
          <p:nvPr/>
        </p:nvSpPr>
        <p:spPr>
          <a:xfrm>
            <a:off x="4210811" y="405079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10811" y="40507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05" name="Oval 104"/>
          <p:cNvSpPr/>
          <p:nvPr/>
        </p:nvSpPr>
        <p:spPr>
          <a:xfrm>
            <a:off x="5262371" y="405079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62371" y="40507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7" name="Oval 106"/>
          <p:cNvSpPr/>
          <p:nvPr/>
        </p:nvSpPr>
        <p:spPr>
          <a:xfrm>
            <a:off x="6062472" y="405079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62472" y="405079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" y="4297680"/>
            <a:ext cx="6126480" cy="2743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429768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Incident response</a:t>
            </a:r>
          </a:p>
        </p:txBody>
      </p:sp>
      <p:sp>
        <p:nvSpPr>
          <p:cNvPr id="111" name="Oval 110"/>
          <p:cNvSpPr/>
          <p:nvPr/>
        </p:nvSpPr>
        <p:spPr>
          <a:xfrm>
            <a:off x="3159251" y="432511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59251" y="43251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3" name="Oval 112"/>
          <p:cNvSpPr/>
          <p:nvPr/>
        </p:nvSpPr>
        <p:spPr>
          <a:xfrm>
            <a:off x="4210811" y="432511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210811" y="43251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15" name="Oval 114"/>
          <p:cNvSpPr/>
          <p:nvPr/>
        </p:nvSpPr>
        <p:spPr>
          <a:xfrm>
            <a:off x="5262371" y="432511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62371" y="43251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7" name="Oval 116"/>
          <p:cNvSpPr/>
          <p:nvPr/>
        </p:nvSpPr>
        <p:spPr>
          <a:xfrm>
            <a:off x="6062472" y="4325112"/>
            <a:ext cx="219456" cy="219456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62472" y="432511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" y="4572000"/>
            <a:ext cx="6126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" y="4572000"/>
            <a:ext cx="2240279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202C"/>
                </a:solidFill>
                <a:latin typeface="Calibri"/>
              </a:rPr>
              <a:t>Audit &amp; regulator liaison</a:t>
            </a:r>
          </a:p>
        </p:txBody>
      </p:sp>
      <p:sp>
        <p:nvSpPr>
          <p:cNvPr id="121" name="Oval 120"/>
          <p:cNvSpPr/>
          <p:nvPr/>
        </p:nvSpPr>
        <p:spPr>
          <a:xfrm>
            <a:off x="3026663" y="4599432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026663" y="45994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3" name="Oval 122"/>
          <p:cNvSpPr/>
          <p:nvPr/>
        </p:nvSpPr>
        <p:spPr>
          <a:xfrm>
            <a:off x="3291839" y="4599432"/>
            <a:ext cx="219456" cy="219456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91839" y="45994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5" name="Oval 124"/>
          <p:cNvSpPr/>
          <p:nvPr/>
        </p:nvSpPr>
        <p:spPr>
          <a:xfrm>
            <a:off x="4210811" y="459943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10811" y="45994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7" name="Oval 126"/>
          <p:cNvSpPr/>
          <p:nvPr/>
        </p:nvSpPr>
        <p:spPr>
          <a:xfrm>
            <a:off x="5262371" y="459943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62371" y="45994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9" name="Oval 128"/>
          <p:cNvSpPr/>
          <p:nvPr/>
        </p:nvSpPr>
        <p:spPr>
          <a:xfrm>
            <a:off x="6062472" y="4599432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062472" y="4599432"/>
            <a:ext cx="219456" cy="2194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1" name="Oval 130"/>
          <p:cNvSpPr/>
          <p:nvPr/>
        </p:nvSpPr>
        <p:spPr>
          <a:xfrm>
            <a:off x="320040" y="4882896"/>
            <a:ext cx="164592" cy="164592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20040" y="4882896"/>
            <a:ext cx="16459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21208" y="4846320"/>
            <a:ext cx="1188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Responsible</a:t>
            </a:r>
          </a:p>
        </p:txBody>
      </p:sp>
      <p:sp>
        <p:nvSpPr>
          <p:cNvPr id="134" name="Oval 133"/>
          <p:cNvSpPr/>
          <p:nvPr/>
        </p:nvSpPr>
        <p:spPr>
          <a:xfrm>
            <a:off x="1737360" y="4882896"/>
            <a:ext cx="164592" cy="1645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737360" y="4882896"/>
            <a:ext cx="16459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38528" y="4846320"/>
            <a:ext cx="1188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Accountable</a:t>
            </a:r>
          </a:p>
        </p:txBody>
      </p:sp>
      <p:sp>
        <p:nvSpPr>
          <p:cNvPr id="137" name="Oval 136"/>
          <p:cNvSpPr/>
          <p:nvPr/>
        </p:nvSpPr>
        <p:spPr>
          <a:xfrm>
            <a:off x="3154680" y="4882896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154680" y="4882896"/>
            <a:ext cx="16459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55848" y="4846320"/>
            <a:ext cx="1188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Consulted</a:t>
            </a:r>
          </a:p>
        </p:txBody>
      </p:sp>
      <p:sp>
        <p:nvSpPr>
          <p:cNvPr id="140" name="Oval 139"/>
          <p:cNvSpPr/>
          <p:nvPr/>
        </p:nvSpPr>
        <p:spPr>
          <a:xfrm>
            <a:off x="4572000" y="4882896"/>
            <a:ext cx="164592" cy="164592"/>
          </a:xfrm>
          <a:prstGeom prst="ellipse">
            <a:avLst/>
          </a:prstGeom>
          <a:solidFill>
            <a:srgbClr val="BF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72000" y="4882896"/>
            <a:ext cx="16459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73168" y="4846320"/>
            <a:ext cx="1188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Informed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0040" y="5120640"/>
            <a:ext cx="6035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482"/>
                </a:solidFill>
                <a:latin typeface="Calibri"/>
              </a:rPr>
              <a:t>AR means the same party is both Accountable and Responsible.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29400" y="1417320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Service tiers &amp; SLOs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629400" y="1783080"/>
            <a:ext cx="5212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629400" y="1783080"/>
            <a:ext cx="521208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812280" y="1911096"/>
            <a:ext cx="14630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102E"/>
                </a:solidFill>
                <a:latin typeface="Calibri"/>
              </a:rPr>
              <a:t>T1 CRITICAL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21040" y="1911096"/>
            <a:ext cx="3383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C4656"/>
                </a:solidFill>
                <a:latin typeface="Calibri"/>
              </a:rPr>
              <a:t>Fraud, real-time credit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12280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240"/>
                </a:solidFill>
                <a:latin typeface="Calibri"/>
              </a:rPr>
              <a:t>99.9% · P95 &lt;150ms · 24×7 on-call · 15-min ack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29400" y="2743200"/>
            <a:ext cx="5212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629400" y="2743200"/>
            <a:ext cx="5212080" cy="7315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12280" y="2871216"/>
            <a:ext cx="14630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9A1F"/>
                </a:solidFill>
                <a:latin typeface="Calibri"/>
              </a:rPr>
              <a:t>T2 STANDARD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21040" y="2871216"/>
            <a:ext cx="3383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C4656"/>
                </a:solidFill>
                <a:latin typeface="Calibri"/>
              </a:rPr>
              <a:t>Collections, propensity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812280" y="3182112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240"/>
                </a:solidFill>
                <a:latin typeface="Calibri"/>
              </a:rPr>
              <a:t>99.5% · P95 &lt;250ms · business hrs + rota · 1-hr ack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629400" y="3703320"/>
            <a:ext cx="52120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629400" y="3703320"/>
            <a:ext cx="5212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812280" y="3831336"/>
            <a:ext cx="14630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Calibri"/>
              </a:rPr>
              <a:t>T3 BATCH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21040" y="3831336"/>
            <a:ext cx="33832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C4656"/>
                </a:solidFill>
                <a:latin typeface="Calibri"/>
              </a:rPr>
              <a:t>Portfolio, regulatory batch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812280" y="4142232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240"/>
                </a:solidFill>
                <a:latin typeface="Calibri"/>
              </a:rPr>
              <a:t>99.0% · batch window · 4-hr ack · daily reports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629400" y="480060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Cadence &amp; escalation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629400" y="5120640"/>
            <a:ext cx="1005840" cy="256032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29400" y="5120640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772400" y="5120640"/>
            <a:ext cx="40233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Standup · drift &amp; incident watch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629400" y="5422392"/>
            <a:ext cx="1005840" cy="256032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629400" y="5422392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WEEKLY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72400" y="5422392"/>
            <a:ext cx="40233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Platform steering · release readiness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629400" y="5724144"/>
            <a:ext cx="1005840" cy="256032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29400" y="5724144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72400" y="5724144"/>
            <a:ext cx="40233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Service review · SLO/budget burn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629400" y="6025896"/>
            <a:ext cx="1005840" cy="256032"/>
          </a:xfrm>
          <a:prstGeom prst="roundRect">
            <a:avLst>
              <a:gd name="adj" fmla="val 45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629400" y="6025896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QUARTERLY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0" y="6025896"/>
            <a:ext cx="40233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C4656"/>
                </a:solidFill>
                <a:latin typeface="Calibri"/>
              </a:rPr>
              <a:t>Model risk pack · exec readout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3 · THE 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Service catalog — what you're buying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Fixed-price service units: outcomes, not hours. EXL carries delivery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2788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88920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PLATFORM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2240"/>
                </a:solidFill>
                <a:latin typeface="Calibri"/>
              </a:rPr>
              <a:t>$425k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one-time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560320"/>
            <a:ext cx="25146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60604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Landing zone, registry, CI/CD, observability, Pipeline Factory.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218688"/>
            <a:ext cx="64008" cy="6400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AWS landing zone &amp; networking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419856"/>
            <a:ext cx="64008" cy="6400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55848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Model &amp; Pipeline Registry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3621024"/>
            <a:ext cx="64008" cy="6400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57016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CI/CD + GitOps pipelines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822192"/>
            <a:ext cx="64008" cy="6400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58184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Observability + drift monitoring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4023360"/>
            <a:ext cx="64008" cy="6400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59352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Model Pipeline Factory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1417320"/>
            <a:ext cx="2788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1417320"/>
            <a:ext cx="2788920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1581912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E5A24"/>
                </a:solidFill>
                <a:latin typeface="Calibri"/>
              </a:rPr>
              <a:t>INITIAL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182880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2240"/>
                </a:solidFill>
                <a:latin typeface="Calibri"/>
              </a:rPr>
              <a:t>$75k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286000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first model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2560320"/>
            <a:ext cx="25146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83280" y="260604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The first productionised model — establishes the reusable patterns.</a:t>
            </a:r>
          </a:p>
        </p:txBody>
      </p:sp>
      <p:sp>
        <p:nvSpPr>
          <p:cNvPr id="34" name="Oval 33"/>
          <p:cNvSpPr/>
          <p:nvPr/>
        </p:nvSpPr>
        <p:spPr>
          <a:xfrm>
            <a:off x="3429000" y="3218688"/>
            <a:ext cx="64008" cy="6400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154680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End-to-end model pipeline</a:t>
            </a:r>
          </a:p>
        </p:txBody>
      </p:sp>
      <p:sp>
        <p:nvSpPr>
          <p:cNvPr id="36" name="Oval 35"/>
          <p:cNvSpPr/>
          <p:nvPr/>
        </p:nvSpPr>
        <p:spPr>
          <a:xfrm>
            <a:off x="3429000" y="3419856"/>
            <a:ext cx="64008" cy="6400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3355848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Feature contract &amp; validation</a:t>
            </a:r>
          </a:p>
        </p:txBody>
      </p:sp>
      <p:sp>
        <p:nvSpPr>
          <p:cNvPr id="38" name="Oval 37"/>
          <p:cNvSpPr/>
          <p:nvPr/>
        </p:nvSpPr>
        <p:spPr>
          <a:xfrm>
            <a:off x="3429000" y="3621024"/>
            <a:ext cx="64008" cy="6400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3557016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IVU evidence pack</a:t>
            </a:r>
          </a:p>
        </p:txBody>
      </p:sp>
      <p:sp>
        <p:nvSpPr>
          <p:cNvPr id="40" name="Oval 39"/>
          <p:cNvSpPr/>
          <p:nvPr/>
        </p:nvSpPr>
        <p:spPr>
          <a:xfrm>
            <a:off x="3429000" y="3822192"/>
            <a:ext cx="64008" cy="6400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3758184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Monitoring + alerting profile</a:t>
            </a:r>
          </a:p>
        </p:txBody>
      </p:sp>
      <p:sp>
        <p:nvSpPr>
          <p:cNvPr id="42" name="Oval 41"/>
          <p:cNvSpPr/>
          <p:nvPr/>
        </p:nvSpPr>
        <p:spPr>
          <a:xfrm>
            <a:off x="3429000" y="4023360"/>
            <a:ext cx="64008" cy="64008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3959352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Reusable templates for later models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199" y="1417320"/>
            <a:ext cx="2788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199" y="1417320"/>
            <a:ext cx="278892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1581912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A896"/>
                </a:solidFill>
                <a:latin typeface="Calibri"/>
              </a:rPr>
              <a:t>NEW MODEL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182880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2240"/>
                </a:solidFill>
                <a:latin typeface="Calibri"/>
              </a:rPr>
              <a:t>$53k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59" y="2286000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per type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59" y="2560320"/>
            <a:ext cx="25146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59" y="260604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First model of each new category: credit, fraud, propensity.</a:t>
            </a:r>
          </a:p>
        </p:txBody>
      </p:sp>
      <p:sp>
        <p:nvSpPr>
          <p:cNvPr id="51" name="Oval 50"/>
          <p:cNvSpPr/>
          <p:nvPr/>
        </p:nvSpPr>
        <p:spPr>
          <a:xfrm>
            <a:off x="6355079" y="3218688"/>
            <a:ext cx="64008" cy="640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39" y="3154680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Type-specific feature set</a:t>
            </a:r>
          </a:p>
        </p:txBody>
      </p:sp>
      <p:sp>
        <p:nvSpPr>
          <p:cNvPr id="53" name="Oval 52"/>
          <p:cNvSpPr/>
          <p:nvPr/>
        </p:nvSpPr>
        <p:spPr>
          <a:xfrm>
            <a:off x="6355079" y="3419856"/>
            <a:ext cx="64008" cy="640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39" y="3355848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Custom drift &amp; stability metrics</a:t>
            </a:r>
          </a:p>
        </p:txBody>
      </p:sp>
      <p:sp>
        <p:nvSpPr>
          <p:cNvPr id="55" name="Oval 54"/>
          <p:cNvSpPr/>
          <p:nvPr/>
        </p:nvSpPr>
        <p:spPr>
          <a:xfrm>
            <a:off x="6355079" y="3621024"/>
            <a:ext cx="64008" cy="640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39" y="3557016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Monitoring profile per type</a:t>
            </a:r>
          </a:p>
        </p:txBody>
      </p:sp>
      <p:sp>
        <p:nvSpPr>
          <p:cNvPr id="57" name="Oval 56"/>
          <p:cNvSpPr/>
          <p:nvPr/>
        </p:nvSpPr>
        <p:spPr>
          <a:xfrm>
            <a:off x="6355079" y="3822192"/>
            <a:ext cx="64008" cy="640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39" y="3758184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Retrain / recalibration policy</a:t>
            </a:r>
          </a:p>
        </p:txBody>
      </p:sp>
      <p:sp>
        <p:nvSpPr>
          <p:cNvPr id="59" name="Oval 58"/>
          <p:cNvSpPr/>
          <p:nvPr/>
        </p:nvSpPr>
        <p:spPr>
          <a:xfrm>
            <a:off x="6355079" y="4023360"/>
            <a:ext cx="64008" cy="640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39" y="3959352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Type-specific control mapping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1417320"/>
            <a:ext cx="2788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98280" y="1417320"/>
            <a:ext cx="2788920" cy="7315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1581912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9A1F"/>
                </a:solidFill>
                <a:latin typeface="Calibri"/>
              </a:rPr>
              <a:t>SUBSEQUENT MODEL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182880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2240"/>
                </a:solidFill>
                <a:latin typeface="Calibri"/>
              </a:rPr>
              <a:t>$28k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2286000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per model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235440" y="2560320"/>
            <a:ext cx="2514600" cy="0"/>
          </a:xfrm>
          <a:prstGeom prst="line">
            <a:avLst/>
          </a:prstGeom>
          <a:ln w="9525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235440" y="2606040"/>
            <a:ext cx="2514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C4656"/>
                </a:solidFill>
                <a:latin typeface="Calibri"/>
              </a:rPr>
              <a:t>Additional model within an existing type — reuses the patterns.</a:t>
            </a:r>
          </a:p>
        </p:txBody>
      </p:sp>
      <p:sp>
        <p:nvSpPr>
          <p:cNvPr id="68" name="Oval 67"/>
          <p:cNvSpPr/>
          <p:nvPr/>
        </p:nvSpPr>
        <p:spPr>
          <a:xfrm>
            <a:off x="9281160" y="3218688"/>
            <a:ext cx="64008" cy="6400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0" y="3154680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Plug into existing pipeline</a:t>
            </a:r>
          </a:p>
        </p:txBody>
      </p:sp>
      <p:sp>
        <p:nvSpPr>
          <p:cNvPr id="70" name="Oval 69"/>
          <p:cNvSpPr/>
          <p:nvPr/>
        </p:nvSpPr>
        <p:spPr>
          <a:xfrm>
            <a:off x="9281160" y="3419856"/>
            <a:ext cx="64008" cy="6400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0" y="3355848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Variant of existing features</a:t>
            </a:r>
          </a:p>
        </p:txBody>
      </p:sp>
      <p:sp>
        <p:nvSpPr>
          <p:cNvPr id="72" name="Oval 71"/>
          <p:cNvSpPr/>
          <p:nvPr/>
        </p:nvSpPr>
        <p:spPr>
          <a:xfrm>
            <a:off x="9281160" y="3621024"/>
            <a:ext cx="64008" cy="6400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3557016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Existing monitoring profile</a:t>
            </a:r>
          </a:p>
        </p:txBody>
      </p:sp>
      <p:sp>
        <p:nvSpPr>
          <p:cNvPr id="74" name="Oval 73"/>
          <p:cNvSpPr/>
          <p:nvPr/>
        </p:nvSpPr>
        <p:spPr>
          <a:xfrm>
            <a:off x="9281160" y="3822192"/>
            <a:ext cx="64008" cy="6400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758184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Reuses IVU template</a:t>
            </a:r>
          </a:p>
        </p:txBody>
      </p:sp>
      <p:sp>
        <p:nvSpPr>
          <p:cNvPr id="76" name="Oval 75"/>
          <p:cNvSpPr/>
          <p:nvPr/>
        </p:nvSpPr>
        <p:spPr>
          <a:xfrm>
            <a:off x="9281160" y="4023360"/>
            <a:ext cx="64008" cy="64008"/>
          </a:xfrm>
          <a:prstGeom prst="ellipse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18320" y="3959352"/>
            <a:ext cx="23317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Fastest onboarding path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0040" y="4389120"/>
            <a:ext cx="11567160" cy="109728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4389120"/>
            <a:ext cx="109728" cy="109728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4553712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E5A24"/>
                </a:solidFill>
                <a:latin typeface="Calibri"/>
              </a:rPr>
              <a:t>MANAGED RUN SERVICE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4846320"/>
            <a:ext cx="4114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$6k / model / month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46320" y="4617720"/>
            <a:ext cx="68580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FFFFFF"/>
                </a:solidFill>
                <a:latin typeface="Calibri"/>
              </a:rPr>
              <a:t>Covers monitoring, drift detection, incident response, retrain triggers, and the monthly audit-evidence pack. Bundles AWS infrastructure at cost. ABSA may elect to self-operate at any 6-month boundary.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5669280"/>
            <a:ext cx="11567160" cy="6858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76072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FIXED PRICE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" y="603504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Not time-and-materials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11830" y="576072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BY OUTCOME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11830" y="603504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Priced per delivered service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03620" y="576072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NO LOCK-IN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03620" y="603504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Exit at any 6-month boundary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95410" y="576072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AWS AT COST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95410" y="6035040"/>
            <a:ext cx="289179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Pass-through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3 · THE 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Platform Foundation — what the $425k buys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Nine modules delivered in 5 months. Each is a discrete, testable deliverable that ABSA signs off before handover.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63040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91440" cy="12984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3216" y="1600200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Landing Zone &amp; Core Networking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3746" y="1627632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A2240"/>
                </a:solidFill>
                <a:latin typeface="Calibri"/>
              </a:rPr>
              <a:t>$55k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3746" y="2039112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13%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.0" y="2267712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313432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Multi-account AWS org · VPC + transit gateway · private endpoints · DNS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8432" y="1463040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8432" y="1463040"/>
            <a:ext cx="91440" cy="129844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1608" y="1600200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7032" y="1600200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IAM, SSO &amp;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2138" y="1627632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EE5A24"/>
                </a:solidFill>
                <a:latin typeface="Calibri"/>
              </a:rPr>
              <a:t>$40k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2138" y="2039112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9%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7032.0" y="2267712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47032" y="2313432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ABSA SSO federation · RBAC · KMS · Secrets Manager · break-glass paths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6824" y="1463040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6824" y="1463040"/>
            <a:ext cx="91440" cy="12984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1600200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5424" y="1600200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ML Compute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0530" y="1627632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0A896"/>
                </a:solidFill>
                <a:latin typeface="Calibri"/>
              </a:rPr>
              <a:t>$65k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0530" y="2039112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15%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45424.0" y="2267712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45424" y="2313432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SageMaker domains · EKS pools · GPU queues · training &amp; inference infra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2889504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889504"/>
            <a:ext cx="91440" cy="1298448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3216" y="3026664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026664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Model Registry &amp; Feature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3746" y="3054096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5B3F8E"/>
                </a:solidFill>
                <a:latin typeface="Calibri"/>
              </a:rPr>
              <a:t>$55k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3746" y="3465576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13%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.0" y="3694176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3739896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Registry · lineage · Feast-style features · contract tests · versioning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18432" y="2889504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18432" y="2889504"/>
            <a:ext cx="91440" cy="1298448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31608" y="3026664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7032" y="3026664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CI/CD &amp; Infrastructure-as-Code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2138" y="3054096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E89A1F"/>
                </a:solidFill>
                <a:latin typeface="Calibri"/>
              </a:rPr>
              <a:t>$50k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2138" y="3465576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12%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47032.0" y="3694176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47032" y="3739896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Terraform modules · GitOps pipelines · automated promotion · rollback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2889504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16824" y="2889504"/>
            <a:ext cx="91440" cy="12984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0" y="3026664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5424" y="3026664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Observability &amp; Model Monitoring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0530" y="3054096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C8102E"/>
                </a:solidFill>
                <a:latin typeface="Calibri"/>
              </a:rPr>
              <a:t>$45k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0530" y="3465576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11%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45424.0" y="3694176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45424" y="3739896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CloudWatch · Prometheus/Grafana · drift detection · alerting · dashboards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4315968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4315968"/>
            <a:ext cx="91440" cy="12984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33216" y="4453128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453128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Security, Audit &amp; SR 11-7 Controls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93746" y="4480560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A2240"/>
                </a:solidFill>
                <a:latin typeface="Calibri"/>
              </a:rPr>
              <a:t>$40k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3746" y="4892040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9%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48640.0" y="5120640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8640" y="5166360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Encryption · audit trail · POPIA controls · IVU evidence hub · CAB gates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18432" y="4315968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18432" y="4315968"/>
            <a:ext cx="91440" cy="12984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31608" y="4453128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7032" y="4453128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Runbooks, Docs &amp; Enablement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2138" y="4480560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0A896"/>
                </a:solidFill>
                <a:latin typeface="Calibri"/>
              </a:rPr>
              <a:t>$30k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2138" y="4892040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7%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447032.0" y="5120640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447032" y="5166360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Operational runbooks · architecture docs · KT sessions · team playbook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16824" y="4315968"/>
            <a:ext cx="37703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16824" y="4315968"/>
            <a:ext cx="91440" cy="129844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430000" y="4453128"/>
            <a:ext cx="3657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6B7482"/>
                </a:solidFill>
                <a:latin typeface="Calibri"/>
              </a:rPr>
              <a:t>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45424" y="4453128"/>
            <a:ext cx="226222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2240"/>
                </a:solidFill>
                <a:latin typeface="Calibri"/>
              </a:rPr>
              <a:t>Pipeline Factory &amp; PIR Controls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90530" y="4480560"/>
            <a:ext cx="13709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EE5A24"/>
                </a:solidFill>
                <a:latin typeface="Calibri"/>
              </a:rPr>
              <a:t>$45k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90530" y="4892040"/>
            <a:ext cx="137099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11%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345424.0" y="5120640"/>
            <a:ext cx="3358896.0" cy="0"/>
          </a:xfrm>
          <a:prstGeom prst="line">
            <a:avLst/>
          </a:prstGeom>
          <a:ln w="7620">
            <a:solidFill>
              <a:srgbClr val="DA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45424" y="5166360"/>
            <a:ext cx="335889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C4656"/>
                </a:solidFill>
                <a:latin typeface="Calibri"/>
              </a:rPr>
              <a:t>Pipeline templates · controlled handoff · PIR reconciliation · DQ &amp; variance gates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5532120"/>
            <a:ext cx="11567160" cy="4572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553212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TOTAL  ·  PLATFORM FOUNDATION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0" y="553212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FC6CF"/>
                </a:solidFill>
                <a:latin typeface="Calibri"/>
              </a:rPr>
              <a:t>9 modules  ·  5 months  ·  Platform + Industrialization pods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38160" y="5532120"/>
            <a:ext cx="3657600" cy="457200"/>
          </a:xfrm>
          <a:prstGeom prst="rect">
            <a:avLst/>
          </a:prstGeom>
          <a:noFill/>
        </p:spPr>
        <p:txBody>
          <a:bodyPr wrap="square" lIns="228600" rIns="228600" tIns="137160" bIns="13716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EE5A24"/>
                </a:solidFill>
                <a:latin typeface="Calibri"/>
              </a:rPr>
              <a:t>$425,000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6080760"/>
            <a:ext cx="11567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Platform Foundation is one-time and reusable — every subsequent model cohort inherits these modules at no additional charge. Module 09 covers the Model Pipeline Factory; the Industrialization Team operates onsite at ABSA.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3 · THE 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Delivery roadmap — 5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Two parallel squads run Platform and Models; integration gates every 2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11567160" cy="32918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2313432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MONTH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554480"/>
            <a:ext cx="2313432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33472.0" y="1554480"/>
            <a:ext cx="0.0" cy="32918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46904" y="1554480"/>
            <a:ext cx="2313432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46904.0" y="1554480"/>
            <a:ext cx="0.0" cy="32918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60336" y="1554480"/>
            <a:ext cx="2313432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MONTH 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0336.0" y="1554480"/>
            <a:ext cx="0.0" cy="32918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73768" y="1554480"/>
            <a:ext cx="2313432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MONTH 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73768.0" y="1554480"/>
            <a:ext cx="0.0" cy="32918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2011680"/>
            <a:ext cx="11567160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11567160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011680"/>
            <a:ext cx="73152" cy="160020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94760"/>
            <a:ext cx="73152" cy="1600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084832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PLATFORM SQUAD  ·  4 FTE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867912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MODEL ONBOARDING SQUAD  ·  4 FTE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" y="2468880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496312"/>
            <a:ext cx="213055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779776"/>
            <a:ext cx="21305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Landing zone · IAM · networking · guardrails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0048" y="2468880"/>
            <a:ext cx="4553712" cy="685800"/>
          </a:xfrm>
          <a:prstGeom prst="roundRect">
            <a:avLst>
              <a:gd name="adj" fmla="val 12000"/>
            </a:avLst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2496312"/>
            <a:ext cx="4443984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PLATFORM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2779776"/>
            <a:ext cx="44439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Registry · feature store · CI/CD · observability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2468880"/>
            <a:ext cx="3396996" cy="685800"/>
          </a:xfrm>
          <a:prstGeom prst="roundRect">
            <a:avLst>
              <a:gd name="adj" fmla="val 12000"/>
            </a:avLst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6" y="2496312"/>
            <a:ext cx="328726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2779776"/>
            <a:ext cx="32872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SR 11-7 controls · runbooks · DR · audit pack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67060" y="2468880"/>
            <a:ext cx="1083564" cy="685800"/>
          </a:xfrm>
          <a:prstGeom prst="roundRect">
            <a:avLst>
              <a:gd name="adj" fmla="val 12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21924" y="2496312"/>
            <a:ext cx="973836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HANDOVER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1924" y="2779776"/>
            <a:ext cx="973836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KT · docs · sign-off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70048" y="4251960"/>
            <a:ext cx="3396996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24912" y="4279392"/>
            <a:ext cx="328726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COHORT 1  ·  Initial model + Type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62856"/>
            <a:ext cx="32872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Credit-risk: first model productionised + IVU 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0196" y="4251960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5060" y="4279392"/>
            <a:ext cx="213055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COHORT 2  ·  Type 2 (fraud + subsequents)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5060" y="4562856"/>
            <a:ext cx="21305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First fraud model + 2 subsequents · monitoring profile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3628" y="4251960"/>
            <a:ext cx="3396996" cy="6858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8492" y="4279392"/>
            <a:ext cx="328726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COHORT 3  ·  Type 3 + remaining subs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8492" y="4562856"/>
            <a:ext cx="32872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Calibri"/>
              </a:rPr>
              <a:t>Propensity/churn + remaining subsequents · drift &amp; retrain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476756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33472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90188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946904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03620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60336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417052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73768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730484.0" y="3611880"/>
            <a:ext cx="0.0" cy="182880"/>
          </a:xfrm>
          <a:prstGeom prst="line">
            <a:avLst/>
          </a:prstGeom>
          <a:ln w="9525">
            <a:solidFill>
              <a:srgbClr val="BFC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20040" y="5330952"/>
            <a:ext cx="11521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Milestones</a:t>
            </a:r>
          </a:p>
        </p:txBody>
      </p:sp>
      <p:sp>
        <p:nvSpPr>
          <p:cNvPr id="57" name="Oval 56"/>
          <p:cNvSpPr/>
          <p:nvPr/>
        </p:nvSpPr>
        <p:spPr>
          <a:xfrm>
            <a:off x="2560320" y="5532120"/>
            <a:ext cx="146304" cy="146304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90472" y="5715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A2240"/>
                </a:solidFill>
                <a:latin typeface="Calibri"/>
              </a:rPr>
              <a:t>Landing zone live</a:t>
            </a:r>
          </a:p>
        </p:txBody>
      </p:sp>
      <p:sp>
        <p:nvSpPr>
          <p:cNvPr id="59" name="Oval 58"/>
          <p:cNvSpPr/>
          <p:nvPr/>
        </p:nvSpPr>
        <p:spPr>
          <a:xfrm>
            <a:off x="6030468" y="5532120"/>
            <a:ext cx="146304" cy="146304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60620" y="5715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A2240"/>
                </a:solidFill>
                <a:latin typeface="Calibri"/>
              </a:rPr>
              <a:t>Platform v1 + Initial model</a:t>
            </a:r>
          </a:p>
        </p:txBody>
      </p:sp>
      <p:sp>
        <p:nvSpPr>
          <p:cNvPr id="61" name="Oval 60"/>
          <p:cNvSpPr/>
          <p:nvPr/>
        </p:nvSpPr>
        <p:spPr>
          <a:xfrm>
            <a:off x="8343900" y="5532120"/>
            <a:ext cx="146304" cy="146304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74052" y="5715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A2240"/>
                </a:solidFill>
                <a:latin typeface="Calibri"/>
              </a:rPr>
              <a:t>Fraud cohort live</a:t>
            </a:r>
          </a:p>
        </p:txBody>
      </p:sp>
      <p:sp>
        <p:nvSpPr>
          <p:cNvPr id="63" name="Oval 62"/>
          <p:cNvSpPr/>
          <p:nvPr/>
        </p:nvSpPr>
        <p:spPr>
          <a:xfrm>
            <a:off x="10792663" y="5532120"/>
            <a:ext cx="146304" cy="146304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22815" y="5715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A2240"/>
                </a:solidFill>
                <a:latin typeface="Calibri"/>
              </a:rPr>
              <a:t>All 10 live · KT done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0040" y="6080760"/>
            <a:ext cx="11567160" cy="411480"/>
          </a:xfrm>
          <a:prstGeom prst="roundRect">
            <a:avLst>
              <a:gd name="adj" fmla="val 10000"/>
            </a:avLst>
          </a:prstGeom>
          <a:solidFill>
            <a:srgbClr val="FAEED4"/>
          </a:solidFill>
          <a:ln w="12700">
            <a:solidFill>
              <a:srgbClr val="E8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080760"/>
            <a:ext cx="365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89A1F"/>
                </a:solidFill>
                <a:latin typeface="Calibri"/>
              </a:rPr>
              <a:t>!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6080760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240"/>
                </a:solidFill>
                <a:latin typeface="Calibri"/>
              </a:rPr>
              <a:t>Compressed from 8 mo baseline → 5 mo: parallel squads, 2-weekly gates, and pre-committed IVU/CAB slots keep governance cycles inside the schedule.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4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Investment summary — service-based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Four headline KPIs; every line ties to the service catalog in the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91440" cy="1143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40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A2240"/>
                </a:solidFill>
                <a:latin typeface="Calibri"/>
              </a:rPr>
              <a:t>BUILD SERVICE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1907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$802k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2606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5-month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14173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EE5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417320"/>
            <a:ext cx="91440" cy="114300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463040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E5A24"/>
                </a:solidFill>
                <a:latin typeface="Calibri"/>
              </a:rPr>
              <a:t>RUN SERVICE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71907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$720k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194560"/>
            <a:ext cx="2606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per year (10 models)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14173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1417320"/>
            <a:ext cx="91440" cy="1143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463040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A896"/>
                </a:solidFill>
                <a:latin typeface="Calibri"/>
              </a:rPr>
              <a:t>PER MODEL (BUILD)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71907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$80.2k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194560"/>
            <a:ext cx="2606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one-time, 10-model cohort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141732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15984" y="1417320"/>
            <a:ext cx="91440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1463040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8102E"/>
                </a:solidFill>
                <a:latin typeface="Calibri"/>
              </a:rPr>
              <a:t>3-YEAR TCO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1719072"/>
            <a:ext cx="2606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$2.242M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194560"/>
            <a:ext cx="2606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Y1 build + Y2/Y3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274320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Build service catalog — how the $802k breaks 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08960"/>
            <a:ext cx="6126480" cy="32004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08960"/>
            <a:ext cx="2834640" cy="32004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SERVICE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3108960"/>
            <a:ext cx="640080" cy="32004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108960"/>
            <a:ext cx="1188720" cy="32004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UNIT 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108960"/>
            <a:ext cx="1463040" cy="32004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LINE $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29000"/>
            <a:ext cx="612648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429000"/>
            <a:ext cx="73152" cy="3840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429000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2240"/>
                </a:solidFill>
                <a:latin typeface="Calibri"/>
              </a:rPr>
              <a:t>Platform Foundation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3429000"/>
            <a:ext cx="64008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3429000"/>
            <a:ext cx="118872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$425,000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429000"/>
            <a:ext cx="146304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$425,000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13048"/>
            <a:ext cx="6126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3813048"/>
            <a:ext cx="73152" cy="38404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13048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2240"/>
                </a:solidFill>
                <a:latin typeface="Calibri"/>
              </a:rPr>
              <a:t>Initial Model Onboarding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3813048"/>
            <a:ext cx="64008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3813048"/>
            <a:ext cx="118872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$75,000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3813048"/>
            <a:ext cx="146304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$75,000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197096"/>
            <a:ext cx="612648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197096"/>
            <a:ext cx="73152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19709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2240"/>
                </a:solidFill>
                <a:latin typeface="Calibri"/>
              </a:rPr>
              <a:t>New Model Type Onboarding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54680" y="4197096"/>
            <a:ext cx="64008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4197096"/>
            <a:ext cx="118872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$53,000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4197096"/>
            <a:ext cx="146304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$106,000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581144"/>
            <a:ext cx="6126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4581144"/>
            <a:ext cx="73152" cy="384048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581144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A2240"/>
                </a:solidFill>
                <a:latin typeface="Calibri"/>
              </a:rPr>
              <a:t>Subsequent Model Onboarding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4680" y="4581144"/>
            <a:ext cx="64008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4581144"/>
            <a:ext cx="118872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$28,000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3480" y="4581144"/>
            <a:ext cx="146304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3C4656"/>
                </a:solidFill>
                <a:latin typeface="Calibri"/>
              </a:rPr>
              <a:t>$196,000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965191"/>
            <a:ext cx="6126480" cy="38404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965191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TOTAL — Build 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54680" y="4965191"/>
            <a:ext cx="64008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E5A24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4965191"/>
            <a:ext cx="118872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EE5A24"/>
                </a:solidFill>
                <a:latin typeface="Calibr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4965191"/>
            <a:ext cx="1463040" cy="384048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EE5A24"/>
                </a:solidFill>
                <a:latin typeface="Calibri"/>
              </a:rPr>
              <a:t>$802,000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2743200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Monthly billing profile (USD)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03720" y="3916076"/>
            <a:ext cx="877824" cy="1158843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12280" y="5074920"/>
            <a:ext cx="11521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M1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3687476"/>
            <a:ext cx="1152144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$128k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72984" y="3246120"/>
            <a:ext cx="877824" cy="182880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81544" y="5074920"/>
            <a:ext cx="11521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M2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81544" y="3017520"/>
            <a:ext cx="1152144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$202k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42248" y="3318547"/>
            <a:ext cx="877824" cy="175637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50808" y="5074920"/>
            <a:ext cx="11521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M3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0808" y="3089947"/>
            <a:ext cx="1152144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$194k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11512" y="3445296"/>
            <a:ext cx="877824" cy="1629623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20072" y="5074920"/>
            <a:ext cx="11521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M4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20072" y="3216696"/>
            <a:ext cx="1152144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$180k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80776" y="4187680"/>
            <a:ext cx="877824" cy="887239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89336" y="5074920"/>
            <a:ext cx="11521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482"/>
                </a:solidFill>
                <a:latin typeface="Calibri"/>
              </a:rPr>
              <a:t>M5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9336" y="3959080"/>
            <a:ext cx="1152144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3C4656"/>
                </a:solidFill>
                <a:latin typeface="Calibri"/>
              </a:rPr>
              <a:t>$98k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58000" y="5394960"/>
            <a:ext cx="137160" cy="109728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40880" y="534924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C4656"/>
                </a:solidFill>
                <a:latin typeface="Calibri"/>
              </a:rPr>
              <a:t>Billed on service-milestone completion (build phase)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5550408"/>
            <a:ext cx="4937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482"/>
                </a:solidFill>
                <a:latin typeface="Calibri"/>
              </a:rPr>
              <a:t>Run phase: $60k/month level-billed from M6 onwards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852160"/>
            <a:ext cx="11567160" cy="502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8521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Fixed-price outcomes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9272" y="58521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AWS bundled in run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81344" y="58521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No T&amp;M, no overruns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43416" y="5852160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A2240"/>
                </a:solidFill>
                <a:latin typeface="Calibri"/>
              </a:rPr>
              <a:t>✓  Exit every 6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4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Per-model economics — build vs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Per-service prices; allocated across the 10-model cohort (USD)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5760720" cy="233172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09728" cy="2331720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5448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E5A24"/>
                </a:solidFill>
                <a:latin typeface="Calibri"/>
              </a:rPr>
              <a:t>BUILD PHASE  ·  ONE-TIME (M1–M5)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539496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$80,200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5394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ADFE6"/>
                </a:solidFill>
                <a:latin typeface="Calibri"/>
              </a:rPr>
              <a:t>per model  ·  ZAR 1.48m  ·  blended across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BFC6CF"/>
                </a:solidFill>
                <a:latin typeface="Calibri"/>
              </a:rPr>
              <a:t>Breakdown per model (10-model cohort):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1554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E5A24"/>
                </a:solidFill>
                <a:latin typeface="Calibri"/>
              </a:rPr>
              <a:t>Platform $42.5k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59" y="33832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Initial $7.5k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3832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9A1F"/>
                </a:solidFill>
                <a:latin typeface="Calibri"/>
              </a:rPr>
              <a:t>Type $10.6k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83280"/>
            <a:ext cx="1097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7D7DC"/>
                </a:solidFill>
                <a:latin typeface="Calibri"/>
              </a:rPr>
              <a:t>Sub $19.6k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10972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5257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RUN PHASE  ·  ANNUAL (M6 ONWARDS)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47088"/>
            <a:ext cx="52578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$72,000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88920"/>
            <a:ext cx="5257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AFFFA"/>
                </a:solidFill>
                <a:latin typeface="Calibri"/>
              </a:rPr>
              <a:t>per model / year  ·  ZAR 1.33m  ·  managed-service steady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54680"/>
            <a:ext cx="5074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AFFFA"/>
                </a:solidFill>
                <a:latin typeface="Calibri"/>
              </a:rPr>
              <a:t>Managed run service — flat $6k / model / month: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83280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Monitoring +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383280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Incident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383280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Audit-evidence pack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931920"/>
            <a:ext cx="11567160" cy="640080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5240">
            <a:solidFill>
              <a:srgbClr val="EE5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31920"/>
            <a:ext cx="640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E5A24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93192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Year-1 build and ongoing run are priced at parity per model:    $80.2k one-time build  ≈  $72.0k / yr steady-state run    (run ≈ 0.90× build per 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800600"/>
            <a:ext cx="11567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2240"/>
                </a:solidFill>
                <a:latin typeface="Calibri"/>
              </a:rPr>
              <a:t>3-year total cost of ownership (service prices)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12064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120640"/>
            <a:ext cx="2788920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02936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A2240"/>
                </a:solidFill>
                <a:latin typeface="Calibri"/>
              </a:rPr>
              <a:t>YEAR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04104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Build services (M1–M5)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0527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240"/>
                </a:solidFill>
                <a:latin typeface="Calibri"/>
              </a:rPr>
              <a:t>$802k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97880"/>
            <a:ext cx="2514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$80.2k / model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512064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" y="5120640"/>
            <a:ext cx="2788920" cy="5486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5202936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YEAR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404104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Managed run 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60527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240"/>
                </a:solidFill>
                <a:latin typeface="Calibri"/>
              </a:rPr>
              <a:t>$720k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897880"/>
            <a:ext cx="2514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$72.0k / model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512064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120640"/>
            <a:ext cx="2788920" cy="5486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202936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A896"/>
                </a:solidFill>
                <a:latin typeface="Calibri"/>
              </a:rPr>
              <a:t>YEAR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404104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Managed run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60527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240"/>
                </a:solidFill>
                <a:latin typeface="Calibri"/>
              </a:rPr>
              <a:t>$720k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897880"/>
            <a:ext cx="2514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$72.0k / model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512064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 w="15240">
            <a:solidFill>
              <a:srgbClr val="EE5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8280" y="5120640"/>
            <a:ext cx="2788920" cy="54864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5202936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3-YR TCO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404104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BFC6CF"/>
                </a:solidFill>
                <a:latin typeface="Calibri"/>
              </a:rPr>
              <a:t>Cumulative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60527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$2.242M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897880"/>
            <a:ext cx="2514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DADFE6"/>
                </a:solidFill>
                <a:latin typeface="Calibri"/>
              </a:rPr>
              <a:t>$224.2k / 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172200"/>
            <a:ext cx="57607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482"/>
                </a:solidFill>
                <a:latin typeface="Calibri"/>
              </a:rPr>
              <a:t>•  Build fee is fixed at $802k — EXL absorbs overrun risk in the compressed 5-month 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6172200"/>
            <a:ext cx="57607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482"/>
                </a:solidFill>
                <a:latin typeface="Calibri"/>
              </a:rPr>
              <a:t>•  Run fee bundles monitoring, drift, incident response, retrain triggers, audit pack and AWS at cost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6336792"/>
            <a:ext cx="57607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482"/>
                </a:solidFill>
                <a:latin typeface="Calibri"/>
              </a:rPr>
              <a:t>•  ABSA may host directly under its own AWS org and / or exit the run service at any 6-month boundary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6336792"/>
            <a:ext cx="57607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482"/>
                </a:solidFill>
                <a:latin typeface="Calibri"/>
              </a:rPr>
              <a:t>•  Per-model figures are the service total / 10 models; full service catalog is on Tab 2 of the workbook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4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Risks &amp;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Named, owned, monitored — with a pre-agreed response for 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67160" cy="36576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3840480" cy="36576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417320"/>
            <a:ext cx="1188720" cy="36576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417320"/>
            <a:ext cx="1188720" cy="36576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389120" cy="36576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1417320"/>
            <a:ext cx="960120" cy="365760"/>
          </a:xfrm>
          <a:prstGeom prst="rect">
            <a:avLst/>
          </a:prstGeom>
          <a:noFill/>
        </p:spPr>
        <p:txBody>
          <a:bodyPr wrap="square" lIns="137160" rIns="137160" tIns="82296" bIns="8229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83080"/>
            <a:ext cx="1156716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8308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Data access or entitlement delays slow onboarding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94767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4767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94767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94767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78308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Data-access sprint 0 · named ABSA data owners · fallback synthetic data for platform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178308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ABSA Data Office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31720"/>
            <a:ext cx="11567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3317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Regulator expectation shift during the program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49631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49631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249631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49631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33172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Modular compliance library · weekly regulator horizon scan · CAB review cadence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233172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Risk / Compliance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80360"/>
            <a:ext cx="1156716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88036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Model performance misses business thresholds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04495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04495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04495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304495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88036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Champion-challenger framework · fallback to existing model · IVU advisory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288036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Model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29000"/>
            <a:ext cx="11567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42900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AWS cost exceeds forecast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359359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59359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59359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359359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42900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Budget guardrails · auto-scaling ceilings · monthly FinOps review with ABSA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342900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EXL SRE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77640"/>
            <a:ext cx="1156716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97764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Key-person attrition in pod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414223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14223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77840" y="414223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0" y="414223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97764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Named backup per role · documentation as code · 20%+ pod overlap during transitions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7080" y="397764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EXL Eng. Lead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6280"/>
            <a:ext cx="11567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52628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Scope creep beyond 10 models in program window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89120" y="469087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469087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77840" y="469087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469087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52628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Change control · contingency-backed prioritisation · additional cohort quoted separately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27080" y="452628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Steering Cttee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074920"/>
            <a:ext cx="11567160" cy="5486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074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Drift undetected on a low-volume model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0" y="523951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0" y="523951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77840" y="5239512"/>
            <a:ext cx="731520" cy="274320"/>
          </a:xfrm>
          <a:prstGeom prst="roundRect">
            <a:avLst>
              <a:gd name="adj" fmla="val 4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0" y="523951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400" y="507492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C4656"/>
                </a:solidFill>
                <a:latin typeface="Calibri"/>
              </a:rPr>
              <a:t>Minimum-sample alerts · shadow scoring · periodic calibration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27080" y="5074920"/>
            <a:ext cx="960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EXL MLOps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199632"/>
            <a:ext cx="1156716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Full risk register lives in the program SharePoint · reviewed at the monthly service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4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Why EXL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A data-and-analytics partner purpose-built for regulated financial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17320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0876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5A24"/>
                </a:solidFill>
                <a:latin typeface="Calibri"/>
              </a:rP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5740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years in banking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&amp; insurance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1417320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50876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5A24"/>
                </a:solidFill>
                <a:latin typeface="Calibri"/>
              </a:rPr>
              <a:t>50k+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05740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data &amp; analytics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professionals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417320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50876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5A24"/>
                </a:solidFill>
                <a:latin typeface="Calibri"/>
              </a:rPr>
              <a:t>700+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205740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ML models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in production with clients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417320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50876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5A24"/>
                </a:solidFill>
                <a:latin typeface="Calibri"/>
              </a:rPr>
              <a:t>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057400"/>
            <a:ext cx="2788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ranked FS analytics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service provider (Everest)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3776472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Regulated FS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20+ of the top 30 global banks run EXL solutions in production today.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292608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7952" y="2926080"/>
            <a:ext cx="3776472" cy="73152"/>
          </a:xfrm>
          <a:prstGeom prst="rect">
            <a:avLst/>
          </a:prstGeom>
          <a:solidFill>
            <a:srgbClr val="E8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31089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Pre-built control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47472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SR 11-7, SOC 2 and POPIA control sets already mapped to our MLOps stack.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4" y="292608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2926080"/>
            <a:ext cx="3776472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310896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Outcome-based 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47472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KPIs in the MSA · burn caps · no hidden change-order pricing.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3484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434840"/>
            <a:ext cx="3776472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No lock-in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98348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Full IP/artefact handover · ABSA can run the platform without EXL.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952" y="443484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4434840"/>
            <a:ext cx="3776472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2" y="46177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Proven SA presence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498348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Local engagement leadership · offshore delivery centre for scale.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5864" y="4434840"/>
            <a:ext cx="3776472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55864" y="4434840"/>
            <a:ext cx="3776472" cy="73152"/>
          </a:xfrm>
          <a:prstGeom prst="rect">
            <a:avLst/>
          </a:prstGeom>
          <a:solidFill>
            <a:srgbClr val="5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461772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A2240"/>
                </a:solidFill>
                <a:latin typeface="Calibri"/>
              </a:rPr>
              <a:t>Deep partnerships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8744" y="498348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C4656"/>
                </a:solidFill>
                <a:latin typeface="Calibri"/>
              </a:rPr>
              <a:t>AWS Advanced · Databricks · Snowflake · MLflow core contributor.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263640"/>
            <a:ext cx="11567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482"/>
                </a:solidFill>
                <a:latin typeface="Calibri"/>
              </a:rPr>
              <a:t>References from comparable programs available on request under MNDA.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EXL   ›   Confidential   ·   ABSA × EXL   ·   Model Hosting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10528"/>
            <a:ext cx="16916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164592"/>
            <a:ext cx="14630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A2240"/>
                </a:solidFill>
                <a:latin typeface="Calibri"/>
              </a:rPr>
              <a:t>EXL  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E5A24"/>
                </a:solidFill>
                <a:latin typeface="Calibri"/>
              </a:rPr>
              <a:t>SECTION 4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224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3C4656"/>
                </a:solidFill>
                <a:latin typeface="Calibri"/>
              </a:rPr>
              <a:t>Three decisions to take together in the next two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3794760" cy="3566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3794760" cy="73152"/>
          </a:xfrm>
          <a:prstGeom prst="rect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1645920"/>
            <a:ext cx="868680" cy="868680"/>
          </a:xfrm>
          <a:prstGeom prst="ellipse">
            <a:avLst/>
          </a:prstGeom>
          <a:solidFill>
            <a:srgbClr val="EE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645920"/>
            <a:ext cx="868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691640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E5A24"/>
                </a:solidFill>
                <a:latin typeface="Calibri"/>
              </a:rPr>
              <a:t>THIS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993392"/>
            <a:ext cx="2423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Align on scope &amp; tiering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43200"/>
            <a:ext cx="32461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Confirm the 10 initial models, their tier (T1/T2/T3) and their owners.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417320"/>
            <a:ext cx="3794760" cy="3566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94760" cy="7315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53712" y="1645920"/>
            <a:ext cx="868680" cy="868680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645920"/>
            <a:ext cx="868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1691640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2240"/>
                </a:solidFill>
                <a:latin typeface="Calibri"/>
              </a:rPr>
              <a:t>NEXT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1993392"/>
            <a:ext cx="2423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Legal &amp; commercial sign-off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743200"/>
            <a:ext cx="32461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Execute MSA + SOW · engage ABSA data office for entitlements.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417320"/>
            <a:ext cx="3794760" cy="35661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8744" y="1417320"/>
            <a:ext cx="379476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13064" y="1645920"/>
            <a:ext cx="868680" cy="8686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4" y="1645920"/>
            <a:ext cx="868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1691640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A896"/>
                </a:solidFill>
                <a:latin typeface="Calibri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1993392"/>
            <a:ext cx="2423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Mobilise the 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2743200"/>
            <a:ext cx="32461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C4656"/>
                </a:solidFill>
                <a:latin typeface="Calibri"/>
              </a:rPr>
              <a:t>EXL pod on-boarded · ABSA sprint-0 kickoff · landing zone build starts.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257800"/>
            <a:ext cx="11567160" cy="1005840"/>
          </a:xfrm>
          <a:prstGeom prst="roundRect">
            <a:avLst>
              <a:gd name="adj" fmla="val 6000"/>
            </a:avLst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94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E5A24"/>
                </a:solidFill>
                <a:latin typeface="Calibri"/>
              </a:rPr>
              <a:t>APPROVALS REQUIRED TO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692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ABSA CRO  ·  Group CIO  ·  Head of Model Risk  ·  Chief Data Officer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291072"/>
            <a:ext cx="115671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482"/>
                </a:solidFill>
                <a:latin typeface="Calibri"/>
              </a:rPr>
              <a:t>EXL lead — Solution Architect, ABSA account  ·  investment-model.xlsx attached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